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1280160"/>
            <a:ext cx="2377440" cy="2377440"/>
          </a:xfrm>
          <a:prstGeom prst="ellipse">
            <a:avLst/>
          </a:prstGeom>
          <a:noFill/>
          <a:ln w="12700">
            <a:solidFill>
              <a:srgbClr val="5F7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1965960" cy="60350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9659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5F7D2E"/>
                </a:solidFill>
                <a:latin typeface="Cambria"/>
              </a:rPr>
              <a:t>iColor</a:t>
            </a:r>
            <a:r>
              <a:rPr sz="1600" b="1" i="1">
                <a:solidFill>
                  <a:srgbClr val="B8942F"/>
                </a:solidFill>
                <a:latin typeface="Cambria"/>
              </a:rPr>
              <a:t>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7480" y="237744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AR Hair-Colour Try-On — Proposal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15768" y="713232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ED8BE"/>
                </a:solidFill>
                <a:latin typeface="Calibri"/>
              </a:rPr>
              <a:t>Virtual Try-On Mirror &amp; Web Experience  ·  Mineski Global (Philippines) for iColor Plus — Great Lengths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8942F"/>
                </a:solidFill>
                <a:latin typeface="Calibri"/>
              </a:rPr>
              <a:t>PACKAGES — SCALE TO YOUR BUDGET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83080"/>
            <a:ext cx="6400800" cy="1298448"/>
          </a:xfrm>
          <a:prstGeom prst="roundRect">
            <a:avLst>
              <a:gd name="adj" fmla="val 6000"/>
            </a:avLst>
          </a:prstGeom>
          <a:solidFill>
            <a:srgbClr val="F2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146304" cy="1298448"/>
          </a:xfrm>
          <a:prstGeom prst="rect">
            <a:avLst/>
          </a:prstGeom>
          <a:solidFill>
            <a:srgbClr val="5F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11095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5F7D2E"/>
                </a:solidFill>
                <a:latin typeface="Cambria"/>
              </a:rPr>
              <a:t>BASIC  </a:t>
            </a:r>
            <a:r>
              <a:rPr sz="1100" b="0" i="1">
                <a:solidFill>
                  <a:srgbClr val="6B7260"/>
                </a:solidFill>
                <a:latin typeface="Calibri"/>
              </a:rPr>
              <a:t>The AR 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13432"/>
            <a:ext cx="4617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2281C"/>
                </a:solidFill>
                <a:latin typeface="Calibri"/>
              </a:rPr>
              <a:t>Live AR try-on (all SKUs) · photo · 30s video · admin console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2039112"/>
            <a:ext cx="1298448" cy="786384"/>
          </a:xfrm>
          <a:prstGeom prst="roundRect">
            <a:avLst>
              <a:gd name="adj" fmla="val 12000"/>
            </a:avLst>
          </a:prstGeom>
          <a:solidFill>
            <a:srgbClr val="142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2093976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E0C46A"/>
                </a:solidFill>
                <a:latin typeface="Calibri"/>
              </a:rPr>
              <a:t>CLIENT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313432"/>
            <a:ext cx="1298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₱257,600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00400"/>
            <a:ext cx="6400800" cy="1298448"/>
          </a:xfrm>
          <a:prstGeom prst="roundRect">
            <a:avLst>
              <a:gd name="adj" fmla="val 6000"/>
            </a:avLst>
          </a:prstGeom>
          <a:solidFill>
            <a:srgbClr val="F2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200400"/>
            <a:ext cx="146304" cy="1298448"/>
          </a:xfrm>
          <a:prstGeom prst="rect">
            <a:avLst/>
          </a:prstGeom>
          <a:solidFill>
            <a:srgbClr val="B89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32841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B8942F"/>
                </a:solidFill>
                <a:latin typeface="Cambria"/>
              </a:rPr>
              <a:t>STANDARD  </a:t>
            </a:r>
            <a:r>
              <a:rPr sz="1100" b="0" i="1">
                <a:solidFill>
                  <a:srgbClr val="6B7260"/>
                </a:solidFill>
                <a:latin typeface="Calibri"/>
              </a:rPr>
              <a:t>Basic + engagement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30752"/>
            <a:ext cx="4617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2281C"/>
                </a:solidFill>
                <a:latin typeface="Calibri"/>
              </a:rPr>
              <a:t>+ before/after split · compare grid · brighten · upload · shareable cards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40680" y="3456432"/>
            <a:ext cx="1298448" cy="786384"/>
          </a:xfrm>
          <a:prstGeom prst="roundRect">
            <a:avLst>
              <a:gd name="adj" fmla="val 12000"/>
            </a:avLst>
          </a:prstGeom>
          <a:solidFill>
            <a:srgbClr val="142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3511296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E0C46A"/>
                </a:solidFill>
                <a:latin typeface="Calibri"/>
              </a:rPr>
              <a:t>CLIENT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3730752"/>
            <a:ext cx="1298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₱354,200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617720"/>
            <a:ext cx="6400800" cy="1298448"/>
          </a:xfrm>
          <a:prstGeom prst="roundRect">
            <a:avLst>
              <a:gd name="adj" fmla="val 6000"/>
            </a:avLst>
          </a:prstGeom>
          <a:solidFill>
            <a:srgbClr val="F2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617720"/>
            <a:ext cx="146304" cy="1298448"/>
          </a:xfrm>
          <a:prstGeom prst="rect">
            <a:avLst/>
          </a:prstGeom>
          <a:solidFill>
            <a:srgbClr val="142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745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4210F"/>
                </a:solidFill>
                <a:latin typeface="Cambria"/>
              </a:rPr>
              <a:t>BESPOKE  </a:t>
            </a:r>
            <a:r>
              <a:rPr sz="1100" b="0" i="1">
                <a:solidFill>
                  <a:srgbClr val="6B7260"/>
                </a:solidFill>
                <a:latin typeface="Calibri"/>
              </a:rPr>
              <a:t>The full 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148072"/>
            <a:ext cx="4617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2281C"/>
                </a:solidFill>
                <a:latin typeface="Calibri"/>
              </a:rPr>
              <a:t>+ hair &amp; skin analysis · shade recommendations · statement colours · A5 print · analytics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0680" y="4873752"/>
            <a:ext cx="1298448" cy="786384"/>
          </a:xfrm>
          <a:prstGeom prst="roundRect">
            <a:avLst>
              <a:gd name="adj" fmla="val 12000"/>
            </a:avLst>
          </a:prstGeom>
          <a:solidFill>
            <a:srgbClr val="142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40680" y="4928616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E0C46A"/>
                </a:solidFill>
                <a:latin typeface="Calibri"/>
              </a:rPr>
              <a:t>CLIENT TOTAL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5148072"/>
            <a:ext cx="1298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₱805,000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053328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4210F"/>
                </a:solidFill>
                <a:latin typeface="Calibri"/>
              </a:rPr>
              <a:t>Also: </a:t>
            </a:r>
            <a:r>
              <a:rPr sz="1050" b="0" i="0">
                <a:solidFill>
                  <a:srgbClr val="22281C"/>
                </a:solidFill>
                <a:latin typeface="Calibri"/>
              </a:rPr>
              <a:t>web/QR (no hardware) · optional annual hosting &amp; maintenance ₱66,000/yr · volume &amp; retainer pricing on request.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1371600"/>
            <a:ext cx="4599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8942F"/>
                </a:solidFill>
                <a:latin typeface="Calibri"/>
              </a:rPr>
              <a:t>INVESTMENT SNAPSHOT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1691640"/>
            <a:ext cx="4599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4210F"/>
                </a:solidFill>
                <a:latin typeface="Calibri"/>
              </a:rPr>
              <a:t>Software packages (one-time)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0" y="2002536"/>
            <a:ext cx="4599432" cy="342900"/>
          </a:xfrm>
          <a:prstGeom prst="rect">
            <a:avLst/>
          </a:prstGeom>
          <a:solidFill>
            <a:srgbClr val="5F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9480" y="2002536"/>
            <a:ext cx="2759659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Package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32036" y="2002536"/>
            <a:ext cx="2162556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FFFF"/>
                </a:solidFill>
                <a:latin typeface="Calibri"/>
              </a:rPr>
              <a:t>Client total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0" y="2345436"/>
            <a:ext cx="4599432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69480" y="2345436"/>
            <a:ext cx="2851647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2281C"/>
                </a:solidFill>
                <a:latin typeface="Calibri"/>
              </a:rPr>
              <a:t>Basic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32036" y="2345436"/>
            <a:ext cx="2162556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4210F"/>
                </a:solidFill>
                <a:latin typeface="Calibri"/>
              </a:rPr>
              <a:t>₱257,600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0" y="2688336"/>
            <a:ext cx="4599432" cy="342900"/>
          </a:xfrm>
          <a:prstGeom prst="rect">
            <a:avLst/>
          </a:prstGeom>
          <a:solidFill>
            <a:srgbClr val="F2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69480" y="2688336"/>
            <a:ext cx="2851647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2281C"/>
                </a:solidFill>
                <a:latin typeface="Calibri"/>
              </a:rPr>
              <a:t>Standard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32036" y="2688336"/>
            <a:ext cx="2162556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4210F"/>
                </a:solidFill>
                <a:latin typeface="Calibri"/>
              </a:rPr>
              <a:t>₱354,200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32320" y="3031236"/>
            <a:ext cx="4599432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69480" y="3031236"/>
            <a:ext cx="2851647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2281C"/>
                </a:solidFill>
                <a:latin typeface="Calibri"/>
              </a:rPr>
              <a:t>Bespoke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32036" y="3031236"/>
            <a:ext cx="2162556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4210F"/>
                </a:solidFill>
                <a:latin typeface="Calibri"/>
              </a:rPr>
              <a:t>₱805,000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3538728"/>
            <a:ext cx="4599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4210F"/>
                </a:solidFill>
                <a:latin typeface="Calibri"/>
              </a:rPr>
              <a:t>Virtual Try-On Mirror (fabrication)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32320" y="3849624"/>
            <a:ext cx="4599432" cy="342900"/>
          </a:xfrm>
          <a:prstGeom prst="rect">
            <a:avLst/>
          </a:prstGeom>
          <a:solidFill>
            <a:srgbClr val="B89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69480" y="3849624"/>
            <a:ext cx="2759659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A220A"/>
                </a:solidFill>
                <a:latin typeface="Calibri"/>
              </a:rPr>
              <a:t>Build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32036" y="3849624"/>
            <a:ext cx="2162556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2A220A"/>
                </a:solidFill>
                <a:latin typeface="Calibri"/>
              </a:rPr>
              <a:t>Client total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32320" y="4192524"/>
            <a:ext cx="4599432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69480" y="4192524"/>
            <a:ext cx="2851647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2281C"/>
                </a:solidFill>
                <a:latin typeface="Calibri"/>
              </a:rPr>
              <a:t>Small — retail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32036" y="4192524"/>
            <a:ext cx="2162556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4210F"/>
                </a:solidFill>
                <a:latin typeface="Calibri"/>
              </a:rPr>
              <a:t>₱180,320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32320" y="4535424"/>
            <a:ext cx="4599432" cy="342900"/>
          </a:xfrm>
          <a:prstGeom prst="rect">
            <a:avLst/>
          </a:prstGeom>
          <a:solidFill>
            <a:srgbClr val="F2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69480" y="4535424"/>
            <a:ext cx="2851647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2281C"/>
                </a:solidFill>
                <a:latin typeface="Calibri"/>
              </a:rPr>
              <a:t>Medium — events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32036" y="4535424"/>
            <a:ext cx="2162556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4210F"/>
                </a:solidFill>
                <a:latin typeface="Calibri"/>
              </a:rPr>
              <a:t>₱418,600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32320" y="4878324"/>
            <a:ext cx="4599432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69480" y="4878324"/>
            <a:ext cx="2851647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2281C"/>
                </a:solidFill>
                <a:latin typeface="Calibri"/>
              </a:rPr>
              <a:t>Large — flagship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32036" y="4878324"/>
            <a:ext cx="2162556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4210F"/>
                </a:solidFill>
                <a:latin typeface="Calibri"/>
              </a:rPr>
              <a:t>₱966,000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132320" y="5404104"/>
            <a:ext cx="4599432" cy="868680"/>
          </a:xfrm>
          <a:prstGeom prst="roundRect">
            <a:avLst>
              <a:gd name="adj" fmla="val 8000"/>
            </a:avLst>
          </a:prstGeom>
          <a:solidFill>
            <a:srgbClr val="142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33488" y="5513832"/>
            <a:ext cx="419709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All totals include </a:t>
            </a:r>
            <a:r>
              <a:rPr sz="1050" b="1" i="0">
                <a:solidFill>
                  <a:srgbClr val="E0C46A"/>
                </a:solidFill>
                <a:latin typeface="Calibri"/>
              </a:rPr>
              <a:t>15% Agency Service Fee + 12% VAT.</a:t>
            </a:r>
            <a:r>
              <a:rPr sz="1050" b="0" i="0">
                <a:solidFill>
                  <a:srgbClr val="FFFFFF"/>
                </a:solidFill>
                <a:latin typeface="Calibri"/>
              </a:rPr>
              <a:t>  Philippine Peso; indicative, valid 30 days. Mirror event-rental ≈ 35–40% of build.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6455664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8942F"/>
                </a:solidFill>
                <a:latin typeface="Calibri"/>
              </a:rPr>
              <a:t>Example bundles:  </a:t>
            </a:r>
            <a:r>
              <a:rPr sz="1000" b="0" i="0">
                <a:solidFill>
                  <a:srgbClr val="22281C"/>
                </a:solidFill>
                <a:latin typeface="Calibri"/>
              </a:rPr>
              <a:t>Retail Pilot (Standard + Small) ₱534,520    ·    Multi-store (Basic + 5×Small) ₱1,159,200    ·    Flagship Event (Bespoke + Large) ₱1,771,000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