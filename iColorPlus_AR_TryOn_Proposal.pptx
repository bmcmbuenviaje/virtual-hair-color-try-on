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Positioning: a web-based AR hair-colour try-on for iColor Plus, offered as scalable packages plus an optional physical Virtual Try-On Mirror for retail and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0" y="-1920240"/>
            <a:ext cx="6035040" cy="6035040"/>
          </a:xfrm>
          <a:prstGeom prst="ellipse">
            <a:avLst/>
          </a:prstGeom>
          <a:noFill/>
          <a:ln w="15240">
            <a:solidFill>
              <a:srgbClr val="5F7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noFill/>
          <a:ln w="12700">
            <a:solidFill>
              <a:srgbClr val="B89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640080"/>
            <a:ext cx="24688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24688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5F7D2E"/>
                </a:solidFill>
                <a:latin typeface="Cambria"/>
              </a:rPr>
              <a:t>iColor</a:t>
            </a:r>
            <a:r>
              <a:rPr sz="2200" b="1" i="1">
                <a:solidFill>
                  <a:srgbClr val="B8942F"/>
                </a:solidFill>
                <a:latin typeface="Cambria"/>
              </a:rPr>
              <a:t>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0C46A"/>
                </a:solidFill>
                <a:latin typeface="Calibri"/>
              </a:rPr>
              <a:t>AR HAIR-COLOUR TRY-ON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Virtual Try-On Mirror &amp;</a:t>
            </a:r>
          </a:p>
          <a:p>
            <a:pPr algn="l">
              <a:lnSpc>
                <a:spcPct val="103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Web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6177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ED8BE"/>
                </a:solidFill>
                <a:latin typeface="Calibri"/>
              </a:rPr>
              <a:t>A scalable proposal — choose the package that fits your budget and rollout.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532120"/>
            <a:ext cx="310896" cy="310896"/>
          </a:xfrm>
          <a:prstGeom prst="ellipse">
            <a:avLst/>
          </a:prstGeom>
          <a:solidFill>
            <a:srgbClr val="1A1A1A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0432" y="5532120"/>
            <a:ext cx="310896" cy="310896"/>
          </a:xfrm>
          <a:prstGeom prst="ellipse">
            <a:avLst/>
          </a:prstGeom>
          <a:solidFill>
            <a:srgbClr val="3D2314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9344" y="5532120"/>
            <a:ext cx="310896" cy="310896"/>
          </a:xfrm>
          <a:prstGeom prst="ellipse">
            <a:avLst/>
          </a:prstGeom>
          <a:solidFill>
            <a:srgbClr val="5C3A21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8256" y="5532120"/>
            <a:ext cx="310896" cy="310896"/>
          </a:xfrm>
          <a:prstGeom prst="ellipse">
            <a:avLst/>
          </a:prstGeom>
          <a:solidFill>
            <a:srgbClr val="8B5A2B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87168" y="5532120"/>
            <a:ext cx="310896" cy="310896"/>
          </a:xfrm>
          <a:prstGeom prst="ellipse">
            <a:avLst/>
          </a:prstGeom>
          <a:solidFill>
            <a:srgbClr val="7B3F00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26080" y="5532120"/>
            <a:ext cx="310896" cy="310896"/>
          </a:xfrm>
          <a:prstGeom prst="ellipse">
            <a:avLst/>
          </a:prstGeom>
          <a:solidFill>
            <a:srgbClr val="800020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64992" y="5532120"/>
            <a:ext cx="310896" cy="310896"/>
          </a:xfrm>
          <a:prstGeom prst="ellipse">
            <a:avLst/>
          </a:prstGeom>
          <a:solidFill>
            <a:srgbClr val="9B111E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803904" y="5532120"/>
            <a:ext cx="310896" cy="310896"/>
          </a:xfrm>
          <a:prstGeom prst="ellipse">
            <a:avLst/>
          </a:prstGeom>
          <a:solidFill>
            <a:srgbClr val="B2BEB5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242816" y="5532120"/>
            <a:ext cx="310896" cy="310896"/>
          </a:xfrm>
          <a:prstGeom prst="ellipse">
            <a:avLst/>
          </a:prstGeom>
          <a:solidFill>
            <a:srgbClr val="F2A2B1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81728" y="5532120"/>
            <a:ext cx="310896" cy="310896"/>
          </a:xfrm>
          <a:prstGeom prst="ellipse">
            <a:avLst/>
          </a:prstGeom>
          <a:solidFill>
            <a:srgbClr val="7851A9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20640" y="5532120"/>
            <a:ext cx="310896" cy="310896"/>
          </a:xfrm>
          <a:prstGeom prst="ellipse">
            <a:avLst/>
          </a:prstGeom>
          <a:solidFill>
            <a:srgbClr val="4A6B82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559552" y="5532120"/>
            <a:ext cx="310896" cy="310896"/>
          </a:xfrm>
          <a:prstGeom prst="ellipse">
            <a:avLst/>
          </a:prstGeom>
          <a:solidFill>
            <a:srgbClr val="4A2511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98464" y="5532120"/>
            <a:ext cx="310896" cy="310896"/>
          </a:xfrm>
          <a:prstGeom prst="ellipse">
            <a:avLst/>
          </a:prstGeom>
          <a:solidFill>
            <a:srgbClr val="D1B89D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37376" y="5532120"/>
            <a:ext cx="310896" cy="310896"/>
          </a:xfrm>
          <a:prstGeom prst="ellipse">
            <a:avLst/>
          </a:prstGeom>
          <a:solidFill>
            <a:srgbClr val="F3E5AB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B9C4A8"/>
                </a:solidFill>
                <a:latin typeface="Calibri"/>
              </a:rPr>
              <a:t>Prepared by  </a:t>
            </a:r>
            <a:r>
              <a:rPr sz="1250" b="1" i="0">
                <a:solidFill>
                  <a:srgbClr val="FFFFFF"/>
                </a:solidFill>
                <a:latin typeface="Calibri"/>
              </a:rPr>
              <a:t>Conrad</a:t>
            </a:r>
            <a:r>
              <a:rPr sz="1250" b="0" i="0">
                <a:solidFill>
                  <a:srgbClr val="B9C4A8"/>
                </a:solidFill>
                <a:latin typeface="Calibri"/>
              </a:rPr>
              <a:t>   for  iColor Plus — Great Lengths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14210F"/>
                </a:solidFill>
                <a:latin typeface="Cambria"/>
              </a:rPr>
              <a:t>Let shoppers try every shade — before they buy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3566160" cy="1554480"/>
          </a:xfrm>
          <a:prstGeom prst="roundRect">
            <a:avLst>
              <a:gd name="adj" fmla="val 9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21284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5F7D2E"/>
                </a:solidFill>
                <a:latin typeface="Cambria"/>
              </a:rPr>
              <a:t>83%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297180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of beauty shoppers say they'd try more shades with a virtual try-on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57400"/>
            <a:ext cx="3566160" cy="1554480"/>
          </a:xfrm>
          <a:prstGeom prst="roundRect">
            <a:avLst>
              <a:gd name="adj" fmla="val 9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221284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5F7D2E"/>
                </a:solidFill>
                <a:latin typeface="Cambria"/>
              </a:rPr>
              <a:t>2.4×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0872" y="297180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longer dwell time at activations with interactive mirrors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57400"/>
            <a:ext cx="3566160" cy="1554480"/>
          </a:xfrm>
          <a:prstGeom prst="roundRect">
            <a:avLst>
              <a:gd name="adj" fmla="val 9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911" y="2212848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5F7D2E"/>
                </a:solidFill>
                <a:latin typeface="Cambr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911" y="297180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mess, hygiene concerns, or product opened to “just see the colour”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005072"/>
            <a:ext cx="310896" cy="310896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995927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904487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210F"/>
                </a:solidFill>
                <a:latin typeface="Calibri"/>
              </a:rPr>
              <a:t>Drive trial &amp; conversion  —  </a:t>
            </a:r>
            <a:r>
              <a:rPr sz="1350" b="0" i="0">
                <a:solidFill>
                  <a:srgbClr val="22281C"/>
                </a:solidFill>
                <a:latin typeface="Calibri"/>
              </a:rPr>
              <a:t>Colour confidence removes the biggest barrier to buying a new shade.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572000"/>
            <a:ext cx="310896" cy="310896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56285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71416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210F"/>
                </a:solidFill>
                <a:latin typeface="Calibri"/>
              </a:rPr>
              <a:t>Own the shelf &amp; the feed  —  </a:t>
            </a:r>
            <a:r>
              <a:rPr sz="1350" b="0" i="0">
                <a:solidFill>
                  <a:srgbClr val="22281C"/>
                </a:solidFill>
                <a:latin typeface="Calibri"/>
              </a:rPr>
              <a:t>A branded mirror is a magnet in-store; shareable results become free reach online.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138928"/>
            <a:ext cx="310896" cy="310896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12978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03834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4210F"/>
                </a:solidFill>
                <a:latin typeface="Calibri"/>
              </a:rPr>
              <a:t>Learn what sells  —  </a:t>
            </a:r>
            <a:r>
              <a:rPr sz="1350" b="0" i="0">
                <a:solidFill>
                  <a:srgbClr val="22281C"/>
                </a:solidFill>
                <a:latin typeface="Calibri"/>
              </a:rPr>
              <a:t>Every session is first-party insight — most-tried shades, skin-tone trends, locations.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14210F"/>
                </a:solidFill>
                <a:latin typeface="Cambria"/>
              </a:rPr>
              <a:t>A live AR mirror for the full iColor Plus range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3840480" cy="4114800"/>
          </a:xfrm>
          <a:prstGeom prst="roundRect">
            <a:avLst>
              <a:gd name="adj" fmla="val 6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C46A"/>
                </a:solidFill>
                <a:latin typeface="Calibri"/>
              </a:rPr>
              <a:t>LIVE PREVIEW</a:t>
            </a:r>
          </a:p>
        </p:txBody>
      </p:sp>
      <p:sp>
        <p:nvSpPr>
          <p:cNvPr id="6" name="Oval 5"/>
          <p:cNvSpPr/>
          <p:nvPr/>
        </p:nvSpPr>
        <p:spPr>
          <a:xfrm>
            <a:off x="1737360" y="2788920"/>
            <a:ext cx="1737360" cy="1737360"/>
          </a:xfrm>
          <a:prstGeom prst="ellipse">
            <a:avLst/>
          </a:prstGeom>
          <a:solidFill>
            <a:srgbClr val="2A2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65960" y="3063240"/>
            <a:ext cx="1280160" cy="1280160"/>
          </a:xfrm>
          <a:prstGeom prst="ellipse">
            <a:avLst/>
          </a:prstGeom>
          <a:solidFill>
            <a:srgbClr val="E2B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4754880"/>
            <a:ext cx="457200" cy="45720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7048" y="4754880"/>
            <a:ext cx="457200" cy="457200"/>
          </a:xfrm>
          <a:prstGeom prst="ellipse">
            <a:avLst/>
          </a:prstGeom>
          <a:solidFill>
            <a:srgbClr val="3D231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93976" y="4754880"/>
            <a:ext cx="457200" cy="457200"/>
          </a:xfrm>
          <a:prstGeom prst="ellipse">
            <a:avLst/>
          </a:prstGeom>
          <a:solidFill>
            <a:srgbClr val="80002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60904" y="4754880"/>
            <a:ext cx="457200" cy="457200"/>
          </a:xfrm>
          <a:prstGeom prst="ellipse">
            <a:avLst/>
          </a:prstGeom>
          <a:solidFill>
            <a:srgbClr val="7851A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27832" y="4754880"/>
            <a:ext cx="457200" cy="457200"/>
          </a:xfrm>
          <a:prstGeom prst="ellipse">
            <a:avLst/>
          </a:prstGeom>
          <a:solidFill>
            <a:srgbClr val="4A6B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4754880"/>
            <a:ext cx="457200" cy="457200"/>
          </a:xfrm>
          <a:prstGeom prst="ellipse">
            <a:avLst/>
          </a:prstGeom>
          <a:solidFill>
            <a:srgbClr val="3D2314"/>
          </a:solidFill>
          <a:ln w="31750">
            <a:solidFill>
              <a:srgbClr val="B89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440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CED8BE"/>
                </a:solidFill>
                <a:latin typeface="Calibri"/>
              </a:rPr>
              <a:t>Tap a shade — hair recolours in real time, on any device's camera.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2057400"/>
            <a:ext cx="6629400" cy="914400"/>
          </a:xfrm>
          <a:prstGeom prst="roundRect">
            <a:avLst>
              <a:gd name="adj" fmla="val 8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74920" y="2313432"/>
            <a:ext cx="402336" cy="402336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231343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E0C46A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8541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4210F"/>
                </a:solidFill>
                <a:latin typeface="Calibri"/>
              </a:rPr>
              <a:t>Every SKU, live</a:t>
            </a:r>
          </a:p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All iColor Plus shades — Flagship, Ash &amp; Crème, For Men, Timeless, Collab — on real hair via the camera.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3063240"/>
            <a:ext cx="6629400" cy="914400"/>
          </a:xfrm>
          <a:prstGeom prst="roundRect">
            <a:avLst>
              <a:gd name="adj" fmla="val 8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74920" y="3319272"/>
            <a:ext cx="402336" cy="402336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4920" y="33192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E0C46A"/>
                </a:solidFill>
                <a:latin typeface="Calibri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19125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4210F"/>
                </a:solidFill>
                <a:latin typeface="Calibri"/>
              </a:rPr>
              <a:t>Capture &amp; keep</a:t>
            </a:r>
          </a:p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Save a photo or a 30-second video straight to the shopper's device. Nothing is uploaded.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69080"/>
            <a:ext cx="6629400" cy="914400"/>
          </a:xfrm>
          <a:prstGeom prst="roundRect">
            <a:avLst>
              <a:gd name="adj" fmla="val 8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74920" y="4325112"/>
            <a:ext cx="402336" cy="402336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20" y="432511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E0C46A"/>
                </a:solidFill>
                <a:latin typeface="Calibri"/>
              </a:rP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419709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4210F"/>
                </a:solidFill>
                <a:latin typeface="Calibri"/>
              </a:rPr>
              <a:t>Works anywhere</a:t>
            </a:r>
          </a:p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Runs in the browser on phone, tablet, laptop, or the in-store mirror. No app to install.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5074920"/>
            <a:ext cx="6629400" cy="914400"/>
          </a:xfrm>
          <a:prstGeom prst="roundRect">
            <a:avLst>
              <a:gd name="adj" fmla="val 8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74920" y="5330952"/>
            <a:ext cx="402336" cy="402336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4920" y="53309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E0C46A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20293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4210F"/>
                </a:solidFill>
                <a:latin typeface="Calibri"/>
              </a:rPr>
              <a:t>On-brand &amp; controllable</a:t>
            </a:r>
          </a:p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Admin console gates features and manages the colour list per deployment.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0C46A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Real-time AI, on the device — private by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1B2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2" y="2395728"/>
            <a:ext cx="658368" cy="65836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395728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4210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32461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Camera or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65760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CED8BE"/>
                </a:solidFill>
                <a:latin typeface="Calibri"/>
              </a:rPr>
              <a:t>Shopper faces the mirror, or uploads a selfie — no sign-up.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4448" y="214884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1B2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40480" y="2395728"/>
            <a:ext cx="658368" cy="65836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95728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4210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2461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AI finds the hair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65760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CED8BE"/>
                </a:solidFill>
                <a:latin typeface="Calibri"/>
              </a:rPr>
              <a:t>On-device AI segments hair every frame. GPU with automatic CPU fallback.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214884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1B2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39128" y="2395728"/>
            <a:ext cx="658368" cy="65836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2395728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4210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2461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Colour is mixed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365760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CED8BE"/>
                </a:solidFill>
                <a:latin typeface="Calibri"/>
              </a:rPr>
              <a:t>The dye is blended with the real hair colour, so results look true to life.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81744" y="214884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1B2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37776" y="2395728"/>
            <a:ext cx="658368" cy="65836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7776" y="2395728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14210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7776" y="324612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Capture &amp;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365760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CED8BE"/>
                </a:solidFill>
                <a:latin typeface="Calibri"/>
              </a:rPr>
              <a:t>Photo, 30s video, or a branded analysis card — saved or printed on the spot.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892040"/>
            <a:ext cx="10789920" cy="960120"/>
          </a:xfrm>
          <a:prstGeom prst="roundRect">
            <a:avLst>
              <a:gd name="adj" fmla="val 8000"/>
            </a:avLst>
          </a:prstGeom>
          <a:solidFill>
            <a:srgbClr val="1B2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292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E0C46A"/>
                </a:solidFill>
                <a:latin typeface="Calibri"/>
              </a:rPr>
              <a:t>Privacy-first.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All processing happens in the browser — the camera feed never leaves the device. Photos and videos are created and saved locally. Ideal for retail and mall data-privacy requirements.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9C4A8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9C4A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PACKAGES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14210F"/>
                </a:solidFill>
                <a:latin typeface="Cambria"/>
              </a:rPr>
              <a:t>Three tiers — scale up as you grow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566160" cy="4160520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786384"/>
          </a:xfrm>
          <a:prstGeom prst="roundRect">
            <a:avLst>
              <a:gd name="adj" fmla="val 6000"/>
            </a:avLst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95728"/>
            <a:ext cx="3566160" cy="402336"/>
          </a:xfrm>
          <a:prstGeom prst="rect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21408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mbria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88950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F7D2E"/>
                </a:solidFill>
                <a:latin typeface="Calibri"/>
              </a:rPr>
              <a:t>THE AR FILTER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2461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" y="323697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Live AR try-on — every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6118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9304" y="360273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Photo 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9776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9304" y="396849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30-second video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43434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9304" y="433425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Front/back camera + mirror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47091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9304" y="470001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Admin console &amp;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74243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1">
                <a:solidFill>
                  <a:srgbClr val="6B7260"/>
                </a:solidFill>
                <a:latin typeface="Calibri"/>
              </a:rPr>
              <a:t>Perfect for shelf &amp; counter trial.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2011680"/>
            <a:ext cx="3566160" cy="4160520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34840" y="2011680"/>
            <a:ext cx="3566160" cy="786384"/>
          </a:xfrm>
          <a:prstGeom prst="roundRect">
            <a:avLst>
              <a:gd name="adj" fmla="val 6000"/>
            </a:avLst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2395728"/>
            <a:ext cx="3566160" cy="402336"/>
          </a:xfrm>
          <a:prstGeom prst="rect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59" y="2121408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mbria"/>
              </a:rPr>
              <a:t>STANDARD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288950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942F"/>
                </a:solidFill>
                <a:latin typeface="Calibri"/>
              </a:rPr>
              <a:t>BASIC +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32461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4" y="323697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Everything in Basic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36118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38344" y="360273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Before/after split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39776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38344" y="396849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Compare-all shade grid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27448" y="43434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38344" y="433425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Brighten toggle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7448" y="47091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38344" y="470001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Upload a selfie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7448" y="50749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F7D2E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38344" y="506577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22281C"/>
                </a:solidFill>
                <a:latin typeface="Calibri"/>
              </a:rPr>
              <a:t>Shareable social cards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59" y="574243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1">
                <a:solidFill>
                  <a:srgbClr val="6B7260"/>
                </a:solidFill>
                <a:latin typeface="Calibri"/>
              </a:rPr>
              <a:t>For richer in-store &amp; event play.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83879" y="2011680"/>
            <a:ext cx="3566160" cy="4160520"/>
          </a:xfrm>
          <a:prstGeom prst="roundRect">
            <a:avLst>
              <a:gd name="adj" fmla="val 6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83879" y="2011680"/>
            <a:ext cx="3566160" cy="786384"/>
          </a:xfrm>
          <a:prstGeom prst="roundRect">
            <a:avLst>
              <a:gd name="adj" fmla="val 6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83879" y="2395728"/>
            <a:ext cx="3566160" cy="402336"/>
          </a:xfrm>
          <a:prstGeom prst="rect">
            <a:avLst/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8200" y="2121408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mbria"/>
              </a:rPr>
              <a:t>BESPOKE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889504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0C46A"/>
                </a:solidFill>
                <a:latin typeface="Calibri"/>
              </a:rPr>
              <a:t>THE FULL EXPERIENCE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6488" y="32461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87384" y="323697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FFFFFF"/>
                </a:solidFill>
                <a:latin typeface="Calibri"/>
              </a:rPr>
              <a:t>Everything in Standard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76488" y="36118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384" y="360273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FFFFFF"/>
                </a:solidFill>
                <a:latin typeface="Calibri"/>
              </a:rPr>
              <a:t>Hair &amp; skin analysis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76488" y="397763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87384" y="396849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FFFFFF"/>
                </a:solidFill>
                <a:latin typeface="Calibri"/>
              </a:rPr>
              <a:t>Skin-tone shade recommendations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76488" y="43434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7384" y="433425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FFFFFF"/>
                </a:solidFill>
                <a:latin typeface="Calibri"/>
              </a:rPr>
              <a:t>Statement colours + vibe filter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76488" y="47091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87384" y="470001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FFFFFF"/>
                </a:solidFill>
                <a:latin typeface="Calibri"/>
              </a:rPr>
              <a:t>Rate-your-own-picks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76488" y="507492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87384" y="5065776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FFFFFF"/>
                </a:solidFill>
                <a:latin typeface="Calibri"/>
              </a:rPr>
              <a:t>Printable A5 report + analytics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58200" y="5742432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1">
                <a:solidFill>
                  <a:srgbClr val="B9C4A8"/>
                </a:solidFill>
                <a:latin typeface="Calibri"/>
              </a:rPr>
              <a:t>Consultative, data-rich flagship.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PACKAGES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14210F"/>
                </a:solidFill>
                <a:latin typeface="Cambria"/>
              </a:rPr>
              <a:t>Feature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00200"/>
          <a:ext cx="10789920" cy="4553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82296" marR="82296" marT="18288" marB="18288" anchor="ctr">
                    <a:solidFill>
                      <a:srgbClr val="1421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82296" marR="82296" marT="18288" marB="18288" anchor="ctr">
                    <a:solidFill>
                      <a:srgbClr val="1421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82296" marR="82296" marT="18288" marB="18288" anchor="ctr">
                    <a:solidFill>
                      <a:srgbClr val="1421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Bespoke</a:t>
                      </a:r>
                    </a:p>
                  </a:txBody>
                  <a:tcPr marL="82296" marR="82296" marT="18288" marB="18288" anchor="ctr">
                    <a:solidFill>
                      <a:srgbClr val="14210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Live AR try-on — all SKUs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Photo capture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30-second video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Camera flip + selfie mirror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Admin console &amp; feature gating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Before/after split view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Compare-all shade grid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Brighten toggle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Upload a selfie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Shareable social cards (1:1 / 4:5)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Hair &amp; skin analysis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Skin-tone shade recommendations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Statement colours + vibe filter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Rate-your-own-picks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Printable A5 report (connected printer)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81C"/>
                          </a:solidFill>
                          <a:latin typeface="Calibri"/>
                        </a:rPr>
                        <a:t>Usage analytics dashboard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C2C7B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5F7D2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645920" y="2011680"/>
            <a:ext cx="5486400" cy="5486400"/>
          </a:xfrm>
          <a:prstGeom prst="ellipse">
            <a:avLst/>
          </a:prstGeom>
          <a:noFill/>
          <a:ln w="13970">
            <a:solidFill>
              <a:srgbClr val="5F7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0C46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mbria"/>
              </a:rPr>
              <a:t>The Virtual Try-On Mirror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77639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CED8BE"/>
                </a:solidFill>
                <a:latin typeface="Calibri"/>
              </a:rPr>
              <a:t>A branded, camera-equipped mirror that runs the same web experience — fabricated at the scale your space and event needs.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5074920"/>
            <a:ext cx="310896" cy="310896"/>
          </a:xfrm>
          <a:prstGeom prst="ellipse">
            <a:avLst/>
          </a:prstGeom>
          <a:solidFill>
            <a:srgbClr val="1A1A1A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07592" y="5074920"/>
            <a:ext cx="310896" cy="310896"/>
          </a:xfrm>
          <a:prstGeom prst="ellipse">
            <a:avLst/>
          </a:prstGeom>
          <a:solidFill>
            <a:srgbClr val="3D2314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46504" y="5074920"/>
            <a:ext cx="310896" cy="310896"/>
          </a:xfrm>
          <a:prstGeom prst="ellipse">
            <a:avLst/>
          </a:prstGeom>
          <a:solidFill>
            <a:srgbClr val="5C3A21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85416" y="5074920"/>
            <a:ext cx="310896" cy="310896"/>
          </a:xfrm>
          <a:prstGeom prst="ellipse">
            <a:avLst/>
          </a:prstGeom>
          <a:solidFill>
            <a:srgbClr val="8B5A2B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24328" y="5074920"/>
            <a:ext cx="310896" cy="310896"/>
          </a:xfrm>
          <a:prstGeom prst="ellipse">
            <a:avLst/>
          </a:prstGeom>
          <a:solidFill>
            <a:srgbClr val="7B3F00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63240" y="5074920"/>
            <a:ext cx="310896" cy="310896"/>
          </a:xfrm>
          <a:prstGeom prst="ellipse">
            <a:avLst/>
          </a:prstGeom>
          <a:solidFill>
            <a:srgbClr val="800020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02152" y="5074920"/>
            <a:ext cx="310896" cy="310896"/>
          </a:xfrm>
          <a:prstGeom prst="ellipse">
            <a:avLst/>
          </a:prstGeom>
          <a:solidFill>
            <a:srgbClr val="9B111E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41064" y="5074920"/>
            <a:ext cx="310896" cy="310896"/>
          </a:xfrm>
          <a:prstGeom prst="ellipse">
            <a:avLst/>
          </a:prstGeom>
          <a:solidFill>
            <a:srgbClr val="B2BEB5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79976" y="5074920"/>
            <a:ext cx="310896" cy="310896"/>
          </a:xfrm>
          <a:prstGeom prst="ellipse">
            <a:avLst/>
          </a:prstGeom>
          <a:solidFill>
            <a:srgbClr val="F2A2B1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18888" y="5074920"/>
            <a:ext cx="310896" cy="310896"/>
          </a:xfrm>
          <a:prstGeom prst="ellipse">
            <a:avLst/>
          </a:prstGeom>
          <a:solidFill>
            <a:srgbClr val="7851A9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57800" y="5074920"/>
            <a:ext cx="310896" cy="310896"/>
          </a:xfrm>
          <a:prstGeom prst="ellipse">
            <a:avLst/>
          </a:prstGeom>
          <a:solidFill>
            <a:srgbClr val="4A6B82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96712" y="5074920"/>
            <a:ext cx="310896" cy="310896"/>
          </a:xfrm>
          <a:prstGeom prst="ellipse">
            <a:avLst/>
          </a:prstGeom>
          <a:solidFill>
            <a:srgbClr val="4A2511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35624" y="5074920"/>
            <a:ext cx="310896" cy="310896"/>
          </a:xfrm>
          <a:prstGeom prst="ellipse">
            <a:avLst/>
          </a:prstGeom>
          <a:solidFill>
            <a:srgbClr val="D1B89D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74536" y="5074920"/>
            <a:ext cx="310896" cy="310896"/>
          </a:xfrm>
          <a:prstGeom prst="ellipse">
            <a:avLst/>
          </a:prstGeom>
          <a:solidFill>
            <a:srgbClr val="F3E5AB"/>
          </a:solidFill>
          <a:ln w="12700">
            <a:solidFill>
              <a:srgbClr val="2A3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9C4A8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9C4A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THE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14210F"/>
                </a:solidFill>
                <a:latin typeface="Cambria"/>
              </a:rPr>
              <a:t>Three build scales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91640"/>
            <a:ext cx="3566160" cy="4480560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74520" y="1920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14210F"/>
          </a:solidFill>
          <a:ln w="15240">
            <a:solidFill>
              <a:srgbClr val="B89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0" y="2212848"/>
            <a:ext cx="365760" cy="365760"/>
          </a:xfrm>
          <a:prstGeom prst="ellipse">
            <a:avLst/>
          </a:prstGeom>
          <a:solidFill>
            <a:srgbClr val="2A2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63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4210F"/>
                </a:solidFill>
                <a:latin typeface="Cambria"/>
              </a:rPr>
              <a:t>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45643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B8942F"/>
                </a:solidFill>
                <a:latin typeface="Calibri"/>
              </a:rPr>
              <a:t>RETAIL / COUNTER  ·  24–32″ portrait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8862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F7D2E"/>
                </a:solidFill>
                <a:latin typeface="Calibr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8862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Watsons shelf, pharmacy counter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43205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F7D2E"/>
                </a:solidFill>
                <a:latin typeface="Calibr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05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Compact branded enclosure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47548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F7D2E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475487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Wide-angle camera + mini-PC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518921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F7D2E"/>
                </a:solidFill>
                <a:latin typeface="Calibr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51892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Plug-and-play, single power plug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74243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6B7260"/>
                </a:solidFill>
                <a:latin typeface="Calibri"/>
              </a:rPr>
              <a:t>Best for: Watsons &amp; small activations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1691640"/>
            <a:ext cx="3566160" cy="4480560"/>
          </a:xfrm>
          <a:prstGeom prst="roundRect">
            <a:avLst>
              <a:gd name="adj" fmla="val 6000"/>
            </a:avLst>
          </a:prstGeom>
          <a:solidFill>
            <a:srgbClr val="EC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23559" y="1920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14210F"/>
          </a:solidFill>
          <a:ln w="15240">
            <a:solidFill>
              <a:srgbClr val="B89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35040" y="2212848"/>
            <a:ext cx="365760" cy="365760"/>
          </a:xfrm>
          <a:prstGeom prst="ellipse">
            <a:avLst/>
          </a:prstGeom>
          <a:solidFill>
            <a:srgbClr val="2A2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9159" y="3063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4210F"/>
                </a:solidFill>
                <a:latin typeface="Cambria"/>
              </a:rPr>
              <a:t>MEDIUM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59" y="345643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B8942F"/>
                </a:solidFill>
                <a:latin typeface="Calibri"/>
              </a:rPr>
              <a:t>EVENTS  ·  43–55″ floor mirror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38862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F7D2E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79" y="38862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Mall atrium, roadshows, launches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43205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F7D2E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79" y="43205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Two-way glass, floor-standing frame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7448" y="47548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F7D2E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79" y="475487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LED accent + lightbox header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518921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F7D2E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79" y="51892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2281C"/>
                </a:solidFill>
                <a:latin typeface="Calibri"/>
              </a:rPr>
              <a:t>4K camera for crisp capture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9159" y="574243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6B7260"/>
                </a:solidFill>
                <a:latin typeface="Calibri"/>
              </a:rPr>
              <a:t>Best for: Booths &amp; mid-size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1691640"/>
            <a:ext cx="3566160" cy="4480560"/>
          </a:xfrm>
          <a:prstGeom prst="roundRect">
            <a:avLst>
              <a:gd name="adj" fmla="val 6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72599" y="1920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1B2C14"/>
          </a:solidFill>
          <a:ln w="15240">
            <a:solidFill>
              <a:srgbClr val="B89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4080" y="2212848"/>
            <a:ext cx="365760" cy="365760"/>
          </a:xfrm>
          <a:prstGeom prst="ellipse">
            <a:avLst/>
          </a:prstGeom>
          <a:solidFill>
            <a:srgbClr val="2A20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8200" y="30632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LARGE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345643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E0C46A"/>
                </a:solidFill>
                <a:latin typeface="Calibri"/>
              </a:rPr>
              <a:t>FLAGSHIP + DISPLAY  ·  65–75″ + product wall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6488" y="38862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0C46A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32519" y="38862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CDA"/>
                </a:solidFill>
                <a:latin typeface="Calibri"/>
              </a:rPr>
              <a:t>Major events &amp; flagship stores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6488" y="43205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0C46A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19" y="432054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CDA"/>
                </a:solidFill>
                <a:latin typeface="Calibri"/>
              </a:rPr>
              <a:t>Custom booth with product shelving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76488" y="475487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0C46A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19" y="475487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CDA"/>
                </a:solidFill>
                <a:latin typeface="Calibri"/>
              </a:rPr>
              <a:t>GPU PC for smoothest 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76488" y="518921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0C46A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32519" y="518921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CDA"/>
                </a:solidFill>
                <a:latin typeface="Calibri"/>
              </a:rPr>
              <a:t>Integrated lighting &amp; backdrop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574243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B9C4A8"/>
                </a:solidFill>
                <a:latin typeface="Calibri"/>
              </a:rPr>
              <a:t>Best for: Hero activations &amp; launches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14210F"/>
                </a:solidFill>
                <a:latin typeface="Cambria"/>
              </a:rPr>
              <a:t>Where it lives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349240" cy="1783080"/>
          </a:xfrm>
          <a:prstGeom prst="roundRect">
            <a:avLst>
              <a:gd name="adj" fmla="val 7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223113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210F"/>
                </a:solidFill>
                <a:latin typeface="Calibri"/>
              </a:rPr>
              <a:t>Retail — Watsons &amp; pharmacy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670048"/>
            <a:ext cx="4800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Small mirror at the hair-colour shelf. Drives trial at the point of decision; refreshes with new SKUs via the admin console.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" y="3383280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383280"/>
            <a:ext cx="3383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Small mirror + Basic/Standard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11680"/>
            <a:ext cx="5349240" cy="1783080"/>
          </a:xfrm>
          <a:prstGeom prst="roundRect">
            <a:avLst>
              <a:gd name="adj" fmla="val 7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223113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210F"/>
                </a:solidFill>
                <a:latin typeface="Calibri"/>
              </a:rPr>
              <a:t>Roadshows &amp; mall activations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2670048"/>
            <a:ext cx="4800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Medium mirror as the centre of the booth. Before/after and shareable cards pull crowds and social reach.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6248" y="3383280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3383280"/>
            <a:ext cx="3383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Medium mirror + Standard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977639"/>
            <a:ext cx="5349240" cy="1783080"/>
          </a:xfrm>
          <a:prstGeom prst="roundRect">
            <a:avLst>
              <a:gd name="adj" fmla="val 7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19709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210F"/>
                </a:solidFill>
                <a:latin typeface="Calibri"/>
              </a:rPr>
              <a:t>Flagship launches &amp; hero 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4636007"/>
            <a:ext cx="4800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Large mirror with product wall and full analysis — a consultation experience with printed take-home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" y="5349240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5349240"/>
            <a:ext cx="3383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Large mirror + Bespoke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977639"/>
            <a:ext cx="5349240" cy="1783080"/>
          </a:xfrm>
          <a:prstGeom prst="roundRect">
            <a:avLst>
              <a:gd name="adj" fmla="val 7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6248" y="419709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4210F"/>
                </a:solidFill>
                <a:latin typeface="Calibri"/>
              </a:rPr>
              <a:t>Web / QR — no 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8" y="4636007"/>
            <a:ext cx="4800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The same experience on shoppers' own phones via a QR code or link — zero fabrication, national reach.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6248" y="5349240"/>
            <a:ext cx="3383280" cy="310896"/>
          </a:xfrm>
          <a:prstGeom prst="roundRect">
            <a:avLst>
              <a:gd name="adj" fmla="val 50000"/>
            </a:avLst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5349240"/>
            <a:ext cx="33832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Any software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0C46A"/>
                </a:solidFill>
                <a:latin typeface="Calibri"/>
              </a:rPr>
              <a:t>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Costing — client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3192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CED8BE"/>
                </a:solidFill>
                <a:latin typeface="Calibri"/>
              </a:rPr>
              <a:t>All figures in Philippine Peso. Each line shows the solution price, a 15% Agency Service Fee, and 12% VAT. Detailed procurement costing follows in the appendix.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9C4A8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9C4A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CLIENT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4210F"/>
                </a:solidFill>
                <a:latin typeface="Cambria"/>
              </a:rPr>
              <a:t>Investment — software packages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91640"/>
          <a:ext cx="10789917" cy="2249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93566"/>
                <a:gridCol w="2174088"/>
                <a:gridCol w="2576697"/>
                <a:gridCol w="1610435"/>
                <a:gridCol w="2335131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82296" marR="82296" marT="18288" marB="18288" anchor="ctr">
                    <a:solidFill>
                      <a:srgbClr val="5F7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Solution price</a:t>
                      </a:r>
                    </a:p>
                  </a:txBody>
                  <a:tcPr marL="82296" marR="82296" marT="18288" marB="18288" anchor="ctr">
                    <a:solidFill>
                      <a:srgbClr val="5F7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Agency Service Fee (15%)</a:t>
                      </a:r>
                    </a:p>
                  </a:txBody>
                  <a:tcPr marL="82296" marR="82296" marT="18288" marB="18288" anchor="ctr">
                    <a:solidFill>
                      <a:srgbClr val="5F7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VAT (12%)</a:t>
                      </a:r>
                    </a:p>
                  </a:txBody>
                  <a:tcPr marL="82296" marR="82296" marT="18288" marB="18288" anchor="ctr">
                    <a:solidFill>
                      <a:srgbClr val="5F7D2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Total investment</a:t>
                      </a:r>
                    </a:p>
                  </a:txBody>
                  <a:tcPr marL="82296" marR="82296" marT="18288" marB="18288" anchor="ctr">
                    <a:solidFill>
                      <a:srgbClr val="5F7D2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81C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₱200,000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₱30,000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₱27,600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14210F"/>
                          </a:solidFill>
                          <a:latin typeface="Calibri"/>
                        </a:rPr>
                        <a:t>₱257,600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81C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₱275,000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₱41,250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₱37,950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14210F"/>
                          </a:solidFill>
                          <a:latin typeface="Calibri"/>
                        </a:rPr>
                        <a:t>₱354,200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81C"/>
                          </a:solidFill>
                          <a:latin typeface="Calibri"/>
                        </a:rPr>
                        <a:t>Bespoke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₱625,000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₱93,750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₱86,250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14210F"/>
                          </a:solidFill>
                          <a:latin typeface="Calibri"/>
                        </a:rPr>
                        <a:t>₱805,000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977639"/>
            <a:ext cx="10789920" cy="960120"/>
          </a:xfrm>
          <a:prstGeom prst="roundRect">
            <a:avLst>
              <a:gd name="adj" fmla="val 8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1148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4210F"/>
                </a:solidFill>
                <a:latin typeface="Calibri"/>
              </a:rPr>
              <a:t>One-time build &amp; deployment per tier. </a:t>
            </a:r>
            <a:r>
              <a:rPr sz="1300" b="0" i="0">
                <a:solidFill>
                  <a:srgbClr val="22281C"/>
                </a:solidFill>
                <a:latin typeface="Calibri"/>
              </a:rPr>
              <a:t>Includes brand skinning, all-SKU shade set-up, hosting for year one, QA and admin console. Optional annual hosting &amp; maintenance: </a:t>
            </a:r>
            <a:r>
              <a:rPr sz="1300" b="1" i="0">
                <a:solidFill>
                  <a:srgbClr val="14210F"/>
                </a:solidFill>
                <a:latin typeface="Calibri"/>
              </a:rPr>
              <a:t>₱66,000/yr.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12064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B8942F"/>
                </a:solidFill>
                <a:latin typeface="Calibri"/>
              </a:rPr>
              <a:t>Reading the numbers</a:t>
            </a:r>
          </a:p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B7260"/>
                </a:solidFill>
                <a:latin typeface="Calibri"/>
              </a:rPr>
              <a:t>Solution price is the package cost. The 15% Agency Service Fee and 12% VAT are added on top; Total investment is what the client pays.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CLIENT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14210F"/>
                </a:solidFill>
                <a:latin typeface="Cambria"/>
              </a:rPr>
              <a:t>Investment — Virtual Try-On Mirror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91640"/>
          <a:ext cx="10789916" cy="2249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943"/>
                <a:gridCol w="2109307"/>
                <a:gridCol w="2514943"/>
                <a:gridCol w="1460289"/>
                <a:gridCol w="219043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Mirror build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Fabrication price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Agency Service Fee (15%)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VAT (12%)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Total investment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81C"/>
                          </a:solidFill>
                          <a:latin typeface="Calibri"/>
                        </a:rPr>
                        <a:t>Small — retail / counter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₱140,000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₱21,000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₱19,320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14210F"/>
                          </a:solidFill>
                          <a:latin typeface="Calibri"/>
                        </a:rPr>
                        <a:t>₱180,320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81C"/>
                          </a:solidFill>
                          <a:latin typeface="Calibri"/>
                        </a:rPr>
                        <a:t>Medium — events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₱320,000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₱48,000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₱44,160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14210F"/>
                          </a:solidFill>
                          <a:latin typeface="Calibri"/>
                        </a:rPr>
                        <a:t>₱412,160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2281C"/>
                          </a:solidFill>
                          <a:latin typeface="Calibri"/>
                        </a:rPr>
                        <a:t>Large — flagship + display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₱750,000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₱112,500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22281C"/>
                          </a:solidFill>
                          <a:latin typeface="Calibri"/>
                        </a:rPr>
                        <a:t>₱103,500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14210F"/>
                          </a:solidFill>
                          <a:latin typeface="Calibri"/>
                        </a:rPr>
                        <a:t>₱966,000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977639"/>
            <a:ext cx="5257800" cy="1737360"/>
          </a:xfrm>
          <a:prstGeom prst="roundRect">
            <a:avLst>
              <a:gd name="adj" fmla="val 8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416052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4210F"/>
                </a:solidFill>
                <a:latin typeface="Calibri"/>
              </a:rPr>
              <a:t>Purchase (fabrication)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One-time build the client keeps — ideal for permanent retail installs. Includes display, camera, PC, two-way mirror, enclosure, branding, assembly &amp; testing.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77639"/>
            <a:ext cx="5257800" cy="1737360"/>
          </a:xfrm>
          <a:prstGeom prst="roundRect">
            <a:avLst>
              <a:gd name="adj" fmla="val 8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64808" y="4160520"/>
            <a:ext cx="4754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E0C46A"/>
                </a:solidFill>
                <a:latin typeface="Calibri"/>
              </a:rPr>
              <a:t>Event rental option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Prefer not to own? We can rent a mirror per activation at roughly 35–40% of the fabrication price (2–3 days), incl. delivery, set-up and on-site tech.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CLIENT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5039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14210F"/>
                </a:solidFill>
                <a:latin typeface="Cambria"/>
              </a:rPr>
              <a:t>Example bundles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37360"/>
            <a:ext cx="3566160" cy="4160520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3566160" cy="731520"/>
          </a:xfrm>
          <a:prstGeom prst="roundRect">
            <a:avLst>
              <a:gd name="adj" fmla="val 6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21408"/>
            <a:ext cx="3566160" cy="347472"/>
          </a:xfrm>
          <a:prstGeom prst="rect">
            <a:avLst/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10512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</a:rPr>
              <a:t>Retail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4210F"/>
                </a:solidFill>
                <a:latin typeface="Calibri"/>
              </a:rPr>
              <a:t>Standard software + 1 Small mirror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1">
                <a:solidFill>
                  <a:srgbClr val="6B7260"/>
                </a:solidFill>
                <a:latin typeface="Calibri"/>
              </a:rPr>
              <a:t>Test-and-learn in one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794760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Subtotal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7947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₱415,000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105656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Agency Service Fee (15%)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10565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₱62,250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416552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VAT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4165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₱57,270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1832" y="4745736"/>
            <a:ext cx="3054096" cy="18288"/>
          </a:xfrm>
          <a:prstGeom prst="rect">
            <a:avLst/>
          </a:prstGeom>
          <a:solidFill>
            <a:srgbClr val="DD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37176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481888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50" b="1" i="0">
                <a:solidFill>
                  <a:srgbClr val="14210F"/>
                </a:solidFill>
                <a:latin typeface="Calibri"/>
              </a:rPr>
              <a:t>₱534,520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1737360"/>
            <a:ext cx="3566160" cy="4160520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34840" y="1737360"/>
            <a:ext cx="3566160" cy="731520"/>
          </a:xfrm>
          <a:prstGeom prst="roundRect">
            <a:avLst>
              <a:gd name="adj" fmla="val 6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34840" y="2121408"/>
            <a:ext cx="3566160" cy="347472"/>
          </a:xfrm>
          <a:prstGeom prst="rect">
            <a:avLst/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59" y="1810512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</a:rPr>
              <a:t>Multi-store Rollout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59" y="260604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4210F"/>
                </a:solidFill>
                <a:latin typeface="Calibri"/>
              </a:rPr>
              <a:t>Basic software + 5 Small mirrors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315468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1">
                <a:solidFill>
                  <a:srgbClr val="6B7260"/>
                </a:solidFill>
                <a:latin typeface="Calibri"/>
              </a:rPr>
              <a:t>Scale across a chain (volume pricing on request)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3794760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Subtotal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7947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₱900,000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59" y="4105656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Agency Service Fee (15%)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10565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₱135,000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59" y="4416552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VAT (12%)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4165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₱124,200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90872" y="4745736"/>
            <a:ext cx="3054096" cy="18288"/>
          </a:xfrm>
          <a:prstGeom prst="rect">
            <a:avLst/>
          </a:prstGeom>
          <a:solidFill>
            <a:srgbClr val="DD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59" y="4837176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81888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50" b="1" i="0">
                <a:solidFill>
                  <a:srgbClr val="14210F"/>
                </a:solidFill>
                <a:latin typeface="Calibri"/>
              </a:rPr>
              <a:t>₱1,159,200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79" y="1737360"/>
            <a:ext cx="3566160" cy="4160520"/>
          </a:xfrm>
          <a:prstGeom prst="roundRect">
            <a:avLst>
              <a:gd name="adj" fmla="val 6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183879" y="1737360"/>
            <a:ext cx="3566160" cy="731520"/>
          </a:xfrm>
          <a:prstGeom prst="roundRect">
            <a:avLst>
              <a:gd name="adj" fmla="val 6000"/>
            </a:avLst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83879" y="2121408"/>
            <a:ext cx="3566160" cy="347472"/>
          </a:xfrm>
          <a:prstGeom prst="rect">
            <a:avLst/>
          </a:prstGeom>
          <a:solidFill>
            <a:srgbClr val="1421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8200" y="1810512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</a:rPr>
              <a:t>Flagship 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260604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4210F"/>
                </a:solidFill>
                <a:latin typeface="Calibri"/>
              </a:rPr>
              <a:t>Bespoke software + 1 Large mirror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3154680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 i="1">
                <a:solidFill>
                  <a:srgbClr val="6B7260"/>
                </a:solidFill>
                <a:latin typeface="Calibri"/>
              </a:rPr>
              <a:t>Hero activation with full analysis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3794760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Subtotal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0" y="379476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₱1,375,000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4105656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Agency Service Fee (15%)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410565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₱206,250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4416552"/>
            <a:ext cx="2377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260"/>
                </a:solidFill>
                <a:latin typeface="Calibri"/>
              </a:rPr>
              <a:t>VAT (12%)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441655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2281C"/>
                </a:solidFill>
                <a:latin typeface="Calibri"/>
              </a:rPr>
              <a:t>₱189,750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39911" y="4745736"/>
            <a:ext cx="3054096" cy="18288"/>
          </a:xfrm>
          <a:prstGeom prst="rect">
            <a:avLst/>
          </a:prstGeom>
          <a:solidFill>
            <a:srgbClr val="DD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4837176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Total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481888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50" b="1" i="0">
                <a:solidFill>
                  <a:srgbClr val="14210F"/>
                </a:solidFill>
                <a:latin typeface="Calibri"/>
              </a:rPr>
              <a:t>₱1,771,000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05332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60"/>
                </a:solidFill>
                <a:latin typeface="Calibri"/>
              </a:rPr>
              <a:t>Indicative bundles for illustration. Volume, multi-unit and retainer pricing available on request.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FOR PROCUREMENT — INTERNAL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800" b="1" i="0">
                <a:solidFill>
                  <a:srgbClr val="14210F"/>
                </a:solidFill>
                <a:latin typeface="Cambria"/>
              </a:rPr>
              <a:t>Detailed costing —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71600"/>
          <a:ext cx="7360918" cy="3693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11017"/>
                <a:gridCol w="1249967"/>
                <a:gridCol w="1249967"/>
                <a:gridCol w="124996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Cost component</a:t>
                      </a:r>
                    </a:p>
                  </a:txBody>
                  <a:tcPr marL="82296" marR="82296" marT="18288" marB="18288" anchor="ctr">
                    <a:solidFill>
                      <a:srgbClr val="1421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82296" marR="82296" marT="18288" marB="18288" anchor="ctr">
                    <a:solidFill>
                      <a:srgbClr val="1421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82296" marR="82296" marT="18288" marB="18288" anchor="ctr">
                    <a:solidFill>
                      <a:srgbClr val="1421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Bespoke</a:t>
                      </a:r>
                    </a:p>
                  </a:txBody>
                  <a:tcPr marL="82296" marR="82296" marT="18288" marB="18288" anchor="ctr">
                    <a:solidFill>
                      <a:srgbClr val="14210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UI/UX &amp; brand skinning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AR filter + all-SKU shade set-up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Photo / video capture module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Admin console &amp; config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Hosting (year 1) + CDN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18,000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18,000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18,000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Split / grid / brighten modules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35,000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35,000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Analysis engine + recommendations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70,000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Statement / vibe / rate-picks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Shareable cards + print pipeline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Usage analytics dashboard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35,000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QA + device testing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12,000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32,000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Project management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12,000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Bespoke customization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2281C"/>
                          </a:solidFill>
                          <a:latin typeface="Calibri"/>
                        </a:rPr>
                        <a:t>30,000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75320" y="1371600"/>
            <a:ext cx="3200400" cy="4617720"/>
          </a:xfrm>
          <a:prstGeom prst="roundRect">
            <a:avLst>
              <a:gd name="adj" fmla="val 5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5087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942F"/>
                </a:solidFill>
                <a:latin typeface="Calibri"/>
              </a:rPr>
              <a:t>MARGIN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9202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Basic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3113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Production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2231136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₱120,000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48259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Package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2482596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₱200,000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73405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Gross profit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734056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2281C"/>
                </a:solidFill>
                <a:latin typeface="Calibri"/>
              </a:rPr>
              <a:t>₱80,000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985515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F7D2E"/>
                </a:solidFill>
                <a:latin typeface="Calibri"/>
              </a:rPr>
              <a:t>GP margin  · 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369563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Standard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680459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Production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3680459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₱165,000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931920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Package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3931920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₱275,000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83380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Gross profit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4183380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2281C"/>
                </a:solidFill>
                <a:latin typeface="Calibri"/>
              </a:rPr>
              <a:t>₱110,000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43484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F7D2E"/>
                </a:solidFill>
                <a:latin typeface="Calibri"/>
              </a:rPr>
              <a:t>GP margin  · 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81888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Bespoke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129784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Production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5129784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₱375,000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381244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Package price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5381244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₱625,000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32704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Gross profit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5632704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2281C"/>
                </a:solidFill>
                <a:latin typeface="Calibri"/>
              </a:rPr>
              <a:t>₱250,000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88416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F7D2E"/>
                </a:solidFill>
                <a:latin typeface="Calibri"/>
              </a:rPr>
              <a:t>GP margin  ·  40%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60"/>
                </a:solidFill>
                <a:latin typeface="Calibri"/>
              </a:rPr>
              <a:t>All figures ₱, net of Agency Service Fee and VAT. Gross profit target 30–50%; modelled at 40%. Excludes annual hosting/maintenance.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FOR PROCUREMENT — INTERNAL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2600" b="1" i="0">
                <a:solidFill>
                  <a:srgbClr val="14210F"/>
                </a:solidFill>
                <a:latin typeface="Cambria"/>
              </a:rPr>
              <a:t>Detailed costing — Virtual Try-On Mirror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71600"/>
          <a:ext cx="7360918" cy="3163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11017"/>
                <a:gridCol w="1249967"/>
                <a:gridCol w="1249967"/>
                <a:gridCol w="124996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A220A"/>
                          </a:solidFill>
                          <a:latin typeface="Calibri"/>
                        </a:rPr>
                        <a:t>Cost component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220A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220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A220A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L="82296" marR="82296" marT="18288" marB="18288" anchor="ctr">
                    <a:solidFill>
                      <a:srgbClr val="B8942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Display (24–75″ as spec)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12,000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35,000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75,000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Camera(s)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6,000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12,000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Compute (mini-PC / GPU PC)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25,000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45,000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85,000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Two-way mirror (acrylic / glass)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7,000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22,000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45,000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Enclosure / frame / booth fab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38,000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140,000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Lighting (LED / lightbox)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— incl.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Branding, print &amp; wrap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15,000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40,000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Wiring, mounts &amp; power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— incl.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— incl.</a:t>
                      </a:r>
                    </a:p>
                  </a:txBody>
                  <a:tcPr marL="82296" marR="82296" marT="18288" marB="18288" anchor="ctr">
                    <a:solidFill>
                      <a:srgbClr val="F2F5E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Assembly, config, QA &amp; logistics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18,000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81C"/>
                          </a:solidFill>
                          <a:latin typeface="Calibri"/>
                        </a:rPr>
                        <a:t>45,000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75320" y="1371600"/>
            <a:ext cx="3200400" cy="4206240"/>
          </a:xfrm>
          <a:prstGeom prst="roundRect">
            <a:avLst>
              <a:gd name="adj" fmla="val 5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150876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8942F"/>
                </a:solidFill>
                <a:latin typeface="Calibri"/>
              </a:rPr>
              <a:t>MARGIN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19659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276856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Fabrication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2276856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₱83,000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528315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Build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2528315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₱140,000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779775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Gross profit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779775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2281C"/>
                </a:solidFill>
                <a:latin typeface="Calibri"/>
              </a:rPr>
              <a:t>₱57,000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031235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F7D2E"/>
                </a:solidFill>
                <a:latin typeface="Calibri"/>
              </a:rPr>
              <a:t>GP margin  ·  41%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415283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Medium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726179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Fabrication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3726179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₱193,000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977639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Build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3977639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₱320,000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229100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Gross profit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4229100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2281C"/>
                </a:solidFill>
                <a:latin typeface="Calibri"/>
              </a:rPr>
              <a:t>₱127,000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480560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F7D2E"/>
                </a:solidFill>
                <a:latin typeface="Calibri"/>
              </a:rPr>
              <a:t>GP margin  · 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86460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4210F"/>
                </a:solidFill>
                <a:latin typeface="Calibri"/>
              </a:rPr>
              <a:t>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175504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Fabrication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5175504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₱450,000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426964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Build price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5426964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22281C"/>
                </a:solidFill>
                <a:latin typeface="Calibri"/>
              </a:rPr>
              <a:t>₱750,000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78424"/>
            <a:ext cx="1645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7260"/>
                </a:solidFill>
                <a:latin typeface="Calibri"/>
              </a:rPr>
              <a:t>Gross profit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5678424"/>
            <a:ext cx="1234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2281C"/>
                </a:solidFill>
                <a:latin typeface="Calibri"/>
              </a:rPr>
              <a:t>₱300,000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92988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F7D2E"/>
                </a:solidFill>
                <a:latin typeface="Calibri"/>
              </a:rPr>
              <a:t>GP margin  ·  40%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6B7260"/>
                </a:solidFill>
                <a:latin typeface="Calibri"/>
              </a:rPr>
              <a:t>All figures ₱, net of Agency Service Fee and VAT. Metro Manila pricing; component costs vary with brand/spec and FX. GP modelled at 40%.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THE FINE 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14210F"/>
                </a:solidFill>
                <a:latin typeface="Cambria"/>
              </a:rPr>
              <a:t>Assumptions &amp; commercial terms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2121408"/>
            <a:ext cx="109728" cy="10972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57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210F"/>
                </a:solidFill>
                <a:latin typeface="Calibri"/>
              </a:rPr>
              <a:t>Pricing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All amounts in Philippine Peso (₱). Agency Service Fee 15% and VAT 12% applied as shown.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3145536"/>
            <a:ext cx="109728" cy="10972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815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210F"/>
                </a:solidFill>
                <a:latin typeface="Calibri"/>
              </a:rPr>
              <a:t>Margin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Gross profit modelled at 40% (target range 30–50%), exclusive of the Agency Service Fee.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4169663"/>
            <a:ext cx="109728" cy="10972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105656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210F"/>
                </a:solidFill>
                <a:latin typeface="Calibri"/>
              </a:rPr>
              <a:t>Validity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Quotation valid for 30 days from issue; subject to component availability and FX at PO.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193792"/>
            <a:ext cx="109728" cy="10972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129784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210F"/>
                </a:solidFill>
                <a:latin typeface="Calibri"/>
              </a:rPr>
              <a:t>Payment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50% down-payment to commence; balance on delivery / go-live. Milestone terms for multi-unit.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2121408"/>
            <a:ext cx="109728" cy="10972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210F"/>
                </a:solidFill>
                <a:latin typeface="Calibri"/>
              </a:rPr>
              <a:t>Timeline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Basic 4–5 wks · Standard 5–7 wks · Bespoke 8–10 wks from PO &amp; assets. Mirror fabrication runs in parallel.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145536"/>
            <a:ext cx="109728" cy="10972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0815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210F"/>
                </a:solidFill>
                <a:latin typeface="Calibri"/>
              </a:rPr>
              <a:t>Inclusions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Design, build, all-SKU set-up, QA, deployment, admin console, and 1-year hosting (software).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4169663"/>
            <a:ext cx="109728" cy="10972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105656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210F"/>
                </a:solidFill>
                <a:latin typeface="Calibri"/>
              </a:rPr>
              <a:t>Exclusions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On-site internet, venue/space, event manpower/talents, permits, and freight outside Metro Manila.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5193792"/>
            <a:ext cx="109728" cy="109728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5129784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4210F"/>
                </a:solidFill>
                <a:latin typeface="Calibri"/>
              </a:rPr>
              <a:t>Data &amp; privacy</a:t>
            </a:r>
          </a:p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2281C"/>
                </a:solidFill>
                <a:latin typeface="Calibri"/>
              </a:rPr>
              <a:t>On-device processing; no camera upload. Analytics are aggregate &amp; anonymous by default.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B8942F"/>
                </a:solidFill>
                <a:latin typeface="Calibri"/>
              </a:rPr>
              <a:t>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9611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14210F"/>
                </a:solidFill>
                <a:latin typeface="Cambria"/>
              </a:rPr>
              <a:t>From go to live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880360"/>
            <a:ext cx="10149840" cy="27432"/>
          </a:xfrm>
          <a:prstGeom prst="rect">
            <a:avLst/>
          </a:prstGeom>
          <a:solidFill>
            <a:srgbClr val="DDE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25880" y="2606040"/>
            <a:ext cx="548640" cy="548640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6060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B8942F"/>
                </a:solidFill>
                <a:latin typeface="Calibri"/>
              </a:rPr>
              <a:t>Week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4210F"/>
                </a:solidFill>
                <a:latin typeface="Calibri"/>
              </a:rPr>
              <a:t>Kick-off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22281C"/>
                </a:solidFill>
                <a:latin typeface="Calibri"/>
              </a:rPr>
              <a:t>Brand assets, SKU list &amp; shade approvals; scope lock.</a:t>
            </a:r>
          </a:p>
        </p:txBody>
      </p:sp>
      <p:sp>
        <p:nvSpPr>
          <p:cNvPr id="10" name="Oval 9"/>
          <p:cNvSpPr/>
          <p:nvPr/>
        </p:nvSpPr>
        <p:spPr>
          <a:xfrm>
            <a:off x="3429000" y="2606040"/>
            <a:ext cx="548640" cy="548640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060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B8942F"/>
                </a:solidFill>
                <a:latin typeface="Calibri"/>
              </a:rPr>
              <a:t>Wk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6118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4210F"/>
                </a:solidFill>
                <a:latin typeface="Calibri"/>
              </a:rPr>
              <a:t>Design &amp; skin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39" y="3977639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22281C"/>
                </a:solidFill>
                <a:latin typeface="Calibri"/>
              </a:rPr>
              <a:t>UI skinning, shade set-up, mirror spec &amp; procurement.</a:t>
            </a:r>
          </a:p>
        </p:txBody>
      </p:sp>
      <p:sp>
        <p:nvSpPr>
          <p:cNvPr id="15" name="Oval 14"/>
          <p:cNvSpPr/>
          <p:nvPr/>
        </p:nvSpPr>
        <p:spPr>
          <a:xfrm>
            <a:off x="5532120" y="2606040"/>
            <a:ext cx="548640" cy="548640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6060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B8942F"/>
                </a:solidFill>
                <a:latin typeface="Calibri"/>
              </a:rPr>
              <a:t>Wk 3–6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6118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4210F"/>
                </a:solidFill>
                <a:latin typeface="Calibri"/>
              </a:rPr>
              <a:t>Build &amp; fabricate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977639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22281C"/>
                </a:solidFill>
                <a:latin typeface="Calibri"/>
              </a:rPr>
              <a:t>Feature build + QA; mirror fabrication and wiring.</a:t>
            </a:r>
          </a:p>
        </p:txBody>
      </p:sp>
      <p:sp>
        <p:nvSpPr>
          <p:cNvPr id="20" name="Oval 19"/>
          <p:cNvSpPr/>
          <p:nvPr/>
        </p:nvSpPr>
        <p:spPr>
          <a:xfrm>
            <a:off x="7635240" y="2606040"/>
            <a:ext cx="548640" cy="548640"/>
          </a:xfrm>
          <a:prstGeom prst="ellipse">
            <a:avLst/>
          </a:prstGeom>
          <a:solidFill>
            <a:srgbClr val="5F7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26060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B8942F"/>
                </a:solidFill>
                <a:latin typeface="Calibri"/>
              </a:rPr>
              <a:t>Wk 7–8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6118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4210F"/>
                </a:solidFill>
                <a:latin typeface="Calibri"/>
              </a:rPr>
              <a:t>Test &amp; train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977639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22281C"/>
                </a:solidFill>
                <a:latin typeface="Calibri"/>
              </a:rPr>
              <a:t>On-device UAT, on-site install, staff training.</a:t>
            </a:r>
          </a:p>
        </p:txBody>
      </p:sp>
      <p:sp>
        <p:nvSpPr>
          <p:cNvPr id="25" name="Oval 24"/>
          <p:cNvSpPr/>
          <p:nvPr/>
        </p:nvSpPr>
        <p:spPr>
          <a:xfrm>
            <a:off x="9738360" y="2606040"/>
            <a:ext cx="548640" cy="548640"/>
          </a:xfrm>
          <a:prstGeom prst="ellipse">
            <a:avLst/>
          </a:prstGeom>
          <a:solidFill>
            <a:srgbClr val="B894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26060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B8942F"/>
                </a:solidFill>
                <a:latin typeface="Calibri"/>
              </a:rPr>
              <a:t>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6118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4210F"/>
                </a:solidFill>
                <a:latin typeface="Calibri"/>
              </a:rPr>
              <a:t>Go-live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977639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22281C"/>
                </a:solidFill>
                <a:latin typeface="Calibri"/>
              </a:rPr>
              <a:t>Deploy, monitor, and iterate from usage data.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257800"/>
            <a:ext cx="10789920" cy="822960"/>
          </a:xfrm>
          <a:prstGeom prst="roundRect">
            <a:avLst>
              <a:gd name="adj" fmla="val 8000"/>
            </a:avLst>
          </a:prstGeom>
          <a:solidFill>
            <a:srgbClr val="F2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394960"/>
            <a:ext cx="10332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4210F"/>
                </a:solidFill>
                <a:latin typeface="Calibri"/>
              </a:rPr>
              <a:t>Fastest path to a pilot: </a:t>
            </a:r>
            <a:r>
              <a:rPr sz="1300" b="0" i="0">
                <a:solidFill>
                  <a:srgbClr val="22281C"/>
                </a:solidFill>
                <a:latin typeface="Calibri"/>
              </a:rPr>
              <a:t>a web-only Basic tier can go live in ~4 weeks via QR — add mirrors and Bespoke features as budget unlocks.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60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3017520"/>
            <a:ext cx="5669280" cy="5669280"/>
          </a:xfrm>
          <a:prstGeom prst="ellipse">
            <a:avLst/>
          </a:prstGeom>
          <a:noFill/>
          <a:ln w="13970">
            <a:solidFill>
              <a:srgbClr val="5F7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0C46A"/>
                </a:solidFill>
                <a:latin typeface="Calibri"/>
              </a:rPr>
              <a:t>LET'S BUILD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Start small, scale to a</a:t>
            </a:r>
          </a:p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nationwide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365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56616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Working prototype already built — fast to brand and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41648"/>
            <a:ext cx="365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041648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One platform: web, in-store mirror, and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17136"/>
            <a:ext cx="365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517136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Tiered to your budget — upgrade features anytime via the admin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992623"/>
            <a:ext cx="365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0C46A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992623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libri"/>
              </a:rPr>
              <a:t>First-party insight on the shades your shoppers love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15000"/>
            <a:ext cx="10561320" cy="777240"/>
          </a:xfrm>
          <a:prstGeom prst="roundRect">
            <a:avLst>
              <a:gd name="adj" fmla="val 10000"/>
            </a:avLst>
          </a:prstGeom>
          <a:solidFill>
            <a:srgbClr val="1B2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85216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E0C46A"/>
                </a:solidFill>
                <a:latin typeface="Calibri"/>
              </a:rPr>
              <a:t>Next step: 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pick a pilot tier + mirror scale, and we'll issue a firm quotation and rollout plan. 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Conrad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9C4A8"/>
                </a:solidFill>
                <a:latin typeface="Calibri"/>
              </a:rPr>
              <a:t>Conrad  ×  iColor Plus — Great Lengths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9C4A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