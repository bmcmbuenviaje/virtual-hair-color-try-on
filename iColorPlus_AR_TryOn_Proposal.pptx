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Positioning: a web-based AR hair-colour try-on for iColor Plus, offered as scalable packages plus an optional physical Virtual Try-On Mirror for retail and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920240"/>
            <a:ext cx="6035040" cy="6035040"/>
          </a:xfrm>
          <a:prstGeom prst="ellipse">
            <a:avLst/>
          </a:prstGeom>
          <a:noFill/>
          <a:ln w="15240">
            <a:solidFill>
              <a:srgbClr val="5F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noFill/>
          <a:ln w="12700">
            <a:solidFill>
              <a:srgbClr val="B89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40080"/>
            <a:ext cx="24688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F7D2E"/>
                </a:solidFill>
                <a:latin typeface="Cambria"/>
              </a:rPr>
              <a:t>iColor</a:t>
            </a:r>
            <a:r>
              <a:rPr sz="2200" b="1" i="1">
                <a:solidFill>
                  <a:srgbClr val="B8942F"/>
                </a:solidFill>
                <a:latin typeface="Cambria"/>
              </a:rPr>
              <a:t>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C46A"/>
                </a:solidFill>
                <a:latin typeface="Calibri"/>
              </a:rPr>
              <a:t>AR HAIR-COLOUR TRY-ON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Virtual Try-On Mirror &amp;</a:t>
            </a:r>
          </a:p>
          <a:p>
            <a:pPr algn="l">
              <a:lnSpc>
                <a:spcPct val="103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Web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177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ED8BE"/>
                </a:solidFill>
                <a:latin typeface="Calibri"/>
              </a:rPr>
              <a:t>A scalable proposal — choose the package that fits your budget and rollout.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53212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0432" y="5532120"/>
            <a:ext cx="310896" cy="310896"/>
          </a:xfrm>
          <a:prstGeom prst="ellipse">
            <a:avLst/>
          </a:prstGeom>
          <a:solidFill>
            <a:srgbClr val="3D2314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9344" y="5532120"/>
            <a:ext cx="310896" cy="310896"/>
          </a:xfrm>
          <a:prstGeom prst="ellipse">
            <a:avLst/>
          </a:prstGeom>
          <a:solidFill>
            <a:srgbClr val="5C3A2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8256" y="5532120"/>
            <a:ext cx="310896" cy="310896"/>
          </a:xfrm>
          <a:prstGeom prst="ellipse">
            <a:avLst/>
          </a:prstGeom>
          <a:solidFill>
            <a:srgbClr val="8B5A2B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7168" y="5532120"/>
            <a:ext cx="310896" cy="310896"/>
          </a:xfrm>
          <a:prstGeom prst="ellipse">
            <a:avLst/>
          </a:prstGeom>
          <a:solidFill>
            <a:srgbClr val="7B3F00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26080" y="5532120"/>
            <a:ext cx="310896" cy="310896"/>
          </a:xfrm>
          <a:prstGeom prst="ellipse">
            <a:avLst/>
          </a:prstGeom>
          <a:solidFill>
            <a:srgbClr val="800020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64992" y="5532120"/>
            <a:ext cx="310896" cy="310896"/>
          </a:xfrm>
          <a:prstGeom prst="ellipse">
            <a:avLst/>
          </a:prstGeom>
          <a:solidFill>
            <a:srgbClr val="9B111E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03904" y="5532120"/>
            <a:ext cx="310896" cy="310896"/>
          </a:xfrm>
          <a:prstGeom prst="ellipse">
            <a:avLst/>
          </a:prstGeom>
          <a:solidFill>
            <a:srgbClr val="B2BEB5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42816" y="5532120"/>
            <a:ext cx="310896" cy="310896"/>
          </a:xfrm>
          <a:prstGeom prst="ellipse">
            <a:avLst/>
          </a:prstGeom>
          <a:solidFill>
            <a:srgbClr val="F2A2B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81728" y="5532120"/>
            <a:ext cx="310896" cy="310896"/>
          </a:xfrm>
          <a:prstGeom prst="ellipse">
            <a:avLst/>
          </a:prstGeom>
          <a:solidFill>
            <a:srgbClr val="7851A9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0" y="5532120"/>
            <a:ext cx="310896" cy="310896"/>
          </a:xfrm>
          <a:prstGeom prst="ellipse">
            <a:avLst/>
          </a:prstGeom>
          <a:solidFill>
            <a:srgbClr val="4A6B82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59552" y="5532120"/>
            <a:ext cx="310896" cy="310896"/>
          </a:xfrm>
          <a:prstGeom prst="ellipse">
            <a:avLst/>
          </a:prstGeom>
          <a:solidFill>
            <a:srgbClr val="4A251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8464" y="5532120"/>
            <a:ext cx="310896" cy="310896"/>
          </a:xfrm>
          <a:prstGeom prst="ellipse">
            <a:avLst/>
          </a:prstGeom>
          <a:solidFill>
            <a:srgbClr val="D1B89D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5532120"/>
            <a:ext cx="310896" cy="310896"/>
          </a:xfrm>
          <a:prstGeom prst="ellipse">
            <a:avLst/>
          </a:prstGeom>
          <a:solidFill>
            <a:srgbClr val="F3E5AB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9C4A8"/>
                </a:solidFill>
                <a:latin typeface="Calibri"/>
              </a:rPr>
              <a:t>Prepared by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Mineski Global (Philippines)</a:t>
            </a:r>
            <a:r>
              <a:rPr sz="1250" b="0" i="0">
                <a:solidFill>
                  <a:srgbClr val="B9C4A8"/>
                </a:solidFill>
                <a:latin typeface="Calibri"/>
              </a:rPr>
              <a:t>   for  iColor Plus — Great Lengths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Let shoppers try every shade — before they buy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2128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5F7D2E"/>
                </a:solidFill>
                <a:latin typeface="Cambria"/>
              </a:rP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9718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of beauty shoppers say they'd try more shades with a virtual try-on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740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2128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5F7D2E"/>
                </a:solidFill>
                <a:latin typeface="Cambria"/>
              </a:rPr>
              <a:t>2.4×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9718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longer dwell time at activations with interactive mirrors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5740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22128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5F7D2E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1" y="29718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mess, hygiene concerns, or product opened to “just see the colour”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05072"/>
            <a:ext cx="310896" cy="31089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9592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04487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10F"/>
                </a:solidFill>
                <a:latin typeface="Calibri"/>
              </a:rPr>
              <a:t>Drive trial &amp; conversion  —  </a:t>
            </a:r>
            <a:r>
              <a:rPr sz="1350" b="0" i="0">
                <a:solidFill>
                  <a:srgbClr val="22281C"/>
                </a:solidFill>
                <a:latin typeface="Calibri"/>
              </a:rPr>
              <a:t>Colour confidence removes the biggest barrier to buying a new shade.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2000"/>
            <a:ext cx="310896" cy="31089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56285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71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10F"/>
                </a:solidFill>
                <a:latin typeface="Calibri"/>
              </a:rPr>
              <a:t>Own the shelf &amp; the feed  —  </a:t>
            </a:r>
            <a:r>
              <a:rPr sz="1350" b="0" i="0">
                <a:solidFill>
                  <a:srgbClr val="22281C"/>
                </a:solidFill>
                <a:latin typeface="Calibri"/>
              </a:rPr>
              <a:t>A branded mirror is a magnet in-store; shareable results become free reach online.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138928"/>
            <a:ext cx="310896" cy="31089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1297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3834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10F"/>
                </a:solidFill>
                <a:latin typeface="Calibri"/>
              </a:rPr>
              <a:t>Learn what sells  —  </a:t>
            </a:r>
            <a:r>
              <a:rPr sz="1350" b="0" i="0">
                <a:solidFill>
                  <a:srgbClr val="22281C"/>
                </a:solidFill>
                <a:latin typeface="Calibri"/>
              </a:rPr>
              <a:t>Every session is first-party insight — most-tried shades, skin-tone trends, locations.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A live AR mirror for the full iColor Plus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C46A"/>
                </a:solidFill>
                <a:latin typeface="Calibri"/>
              </a:rPr>
              <a:t>LIVE PREVIEW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2788920"/>
            <a:ext cx="1737360" cy="173736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5960" y="3063240"/>
            <a:ext cx="1280160" cy="1280160"/>
          </a:xfrm>
          <a:prstGeom prst="ellipse">
            <a:avLst/>
          </a:prstGeom>
          <a:solidFill>
            <a:srgbClr val="E2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4754880"/>
            <a:ext cx="457200" cy="4572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7048" y="4754880"/>
            <a:ext cx="457200" cy="457200"/>
          </a:xfrm>
          <a:prstGeom prst="ellipse">
            <a:avLst/>
          </a:prstGeom>
          <a:solidFill>
            <a:srgbClr val="3D23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93976" y="4754880"/>
            <a:ext cx="457200" cy="457200"/>
          </a:xfrm>
          <a:prstGeom prst="ellipse">
            <a:avLst/>
          </a:prstGeom>
          <a:solidFill>
            <a:srgbClr val="80002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60904" y="4754880"/>
            <a:ext cx="457200" cy="457200"/>
          </a:xfrm>
          <a:prstGeom prst="ellipse">
            <a:avLst/>
          </a:prstGeom>
          <a:solidFill>
            <a:srgbClr val="7851A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27832" y="4754880"/>
            <a:ext cx="457200" cy="457200"/>
          </a:xfrm>
          <a:prstGeom prst="ellipse">
            <a:avLst/>
          </a:prstGeom>
          <a:solidFill>
            <a:srgbClr val="4A6B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4754880"/>
            <a:ext cx="457200" cy="457200"/>
          </a:xfrm>
          <a:prstGeom prst="ellipse">
            <a:avLst/>
          </a:prstGeom>
          <a:solidFill>
            <a:srgbClr val="3D2314"/>
          </a:solidFill>
          <a:ln w="31750">
            <a:solidFill>
              <a:srgbClr val="B89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40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ED8BE"/>
                </a:solidFill>
                <a:latin typeface="Calibri"/>
              </a:rPr>
              <a:t>Tap a shade — hair recolours in real time, on any device's camera.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057400"/>
            <a:ext cx="6629400" cy="91440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74920" y="2313432"/>
            <a:ext cx="402336" cy="40233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31343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0C46A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8541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210F"/>
                </a:solidFill>
                <a:latin typeface="Calibri"/>
              </a:rPr>
              <a:t>Every SKU, live</a:t>
            </a:r>
          </a:p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All iColor Plus shades — Flagship, Ash &amp; Crème, For Men, Timeless, Collab — on real hair via the camera.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063240"/>
            <a:ext cx="6629400" cy="91440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74920" y="3319272"/>
            <a:ext cx="402336" cy="40233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3192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0C46A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19125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210F"/>
                </a:solidFill>
                <a:latin typeface="Calibri"/>
              </a:rPr>
              <a:t>Capture &amp; keep</a:t>
            </a:r>
          </a:p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Save a photo or a 30-second video straight to the shopper's device. Nothing is uploaded.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069080"/>
            <a:ext cx="6629400" cy="91440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74920" y="4325112"/>
            <a:ext cx="402336" cy="40233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43251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0C46A"/>
                </a:solidFill>
                <a:latin typeface="Calibr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19709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210F"/>
                </a:solidFill>
                <a:latin typeface="Calibri"/>
              </a:rPr>
              <a:t>Works anywhere</a:t>
            </a:r>
          </a:p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Runs in the browser on phone, tablet, laptop, or the in-store mirror. No app to install.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5074920"/>
            <a:ext cx="6629400" cy="91440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74920" y="5330952"/>
            <a:ext cx="402336" cy="402336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53309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0C46A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20293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210F"/>
                </a:solidFill>
                <a:latin typeface="Calibri"/>
              </a:rPr>
              <a:t>On-brand &amp; controllable</a:t>
            </a:r>
          </a:p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Admin console gates features and manages the colour list per deployment.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Real-time AI, on the device — private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2395728"/>
            <a:ext cx="658368" cy="65836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395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4210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Camera or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ED8BE"/>
                </a:solidFill>
                <a:latin typeface="Calibri"/>
              </a:rPr>
              <a:t>Shopper faces the mirror, or uploads a selfie — no sign-up.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214884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0" y="2395728"/>
            <a:ext cx="658368" cy="65836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4210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finds the hair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576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ED8BE"/>
                </a:solidFill>
                <a:latin typeface="Calibri"/>
              </a:rPr>
              <a:t>On-device AI segments hair every frame. GPU with automatic CPU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214884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39128" y="2395728"/>
            <a:ext cx="658368" cy="65836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395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4210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Colour is mixed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6576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ED8BE"/>
                </a:solidFill>
                <a:latin typeface="Calibri"/>
              </a:rPr>
              <a:t>The dye is blended with the real hair colour, so results look true to life.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1744" y="214884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37776" y="2395728"/>
            <a:ext cx="658368" cy="65836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2395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4210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Capture &amp;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36576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ED8BE"/>
                </a:solidFill>
                <a:latin typeface="Calibri"/>
              </a:rPr>
              <a:t>Photo, 30s video, or a branded analysis card — saved or printed on the spot.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10789920" cy="960120"/>
          </a:xfrm>
          <a:prstGeom prst="roundRect">
            <a:avLst>
              <a:gd name="adj" fmla="val 8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29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E0C46A"/>
                </a:solidFill>
                <a:latin typeface="Calibri"/>
              </a:rPr>
              <a:t>Privacy-first.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All processing happens in the browser — the camera feed never leaves the device. Photos and videos are created and saved locally. Ideal for retail and mall data-privacy requirements.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4A8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9C4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Three tiers — scale up as you grow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95728"/>
            <a:ext cx="3566160" cy="402336"/>
          </a:xfrm>
          <a:prstGeom prst="rect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950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7D2E"/>
                </a:solidFill>
                <a:latin typeface="Calibri"/>
              </a:rPr>
              <a:t>THE AR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46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32369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Live AR try-on — every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611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360273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Photo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9776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39684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30-second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3434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9304" y="433425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Front/back camera + mirror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709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47000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Admin console &amp;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7424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1">
                <a:solidFill>
                  <a:srgbClr val="6B7260"/>
                </a:solidFill>
                <a:latin typeface="Calibri"/>
              </a:rPr>
              <a:t>Perfect for shelf &amp; counter trial.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01168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2011680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2395728"/>
            <a:ext cx="3566160" cy="402336"/>
          </a:xfrm>
          <a:prstGeom prst="rect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2121408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288950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8942F"/>
                </a:solidFill>
                <a:latin typeface="Calibri"/>
              </a:rPr>
              <a:t>BASIC +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46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32369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Everything in Basic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611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360273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Before/after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39776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39684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Compare-all shade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43434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8344" y="433425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Brighten toggle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4709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47000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Upload a selfie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50749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F7D2E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44" y="50657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22281C"/>
                </a:solidFill>
                <a:latin typeface="Calibri"/>
              </a:rPr>
              <a:t>Shareable social cards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57424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1">
                <a:solidFill>
                  <a:srgbClr val="6B7260"/>
                </a:solidFill>
                <a:latin typeface="Calibri"/>
              </a:rPr>
              <a:t>For richer in-store &amp; event play.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201168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83879" y="2011680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2395728"/>
            <a:ext cx="3566160" cy="402336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121408"/>
            <a:ext cx="3017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mbria"/>
              </a:rPr>
              <a:t>BESPOKE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88950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0C46A"/>
                </a:solidFill>
                <a:latin typeface="Calibri"/>
              </a:rPr>
              <a:t>THE FULL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246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7384" y="32369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Everything in Standard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3611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7384" y="360273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Hair &amp; skin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39776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9684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Skin-tone shade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43434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433425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Statement colours + vibe filter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6488" y="4709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7384" y="47000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Rate-your-own-picks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6488" y="50749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7384" y="50657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FFFFFF"/>
                </a:solidFill>
                <a:latin typeface="Calibri"/>
              </a:rPr>
              <a:t>Printable A5 report + 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57424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1">
                <a:solidFill>
                  <a:srgbClr val="B9C4A8"/>
                </a:solidFill>
                <a:latin typeface="Calibri"/>
              </a:rPr>
              <a:t>Consultative, data-rich flagship.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210F"/>
                </a:solidFill>
                <a:latin typeface="Cambria"/>
              </a:rPr>
              <a:t>Feature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455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Bespoke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Live AR try-on — all SKUs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Photo capture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30-second video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Camera flip + selfie mirror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Admin console &amp; feature gating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Before/after split view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Compare-all shade grid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Brighten toggle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Upload a selfie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Shareable social cards (1:1 / 4:5)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Hair &amp; skin analysis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Skin-tone shade recommendations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Statement colours + vibe filter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Rate-your-own-picks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Printable A5 report (connected printer)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1C"/>
                          </a:solidFill>
                          <a:latin typeface="Calibri"/>
                        </a:rPr>
                        <a:t>Usage analytics dashboard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C2C7B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F7D2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2011680"/>
            <a:ext cx="5486400" cy="5486400"/>
          </a:xfrm>
          <a:prstGeom prst="ellipse">
            <a:avLst/>
          </a:prstGeom>
          <a:noFill/>
          <a:ln w="13970">
            <a:solidFill>
              <a:srgbClr val="5F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The Virtual Try-On 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CED8BE"/>
                </a:solidFill>
                <a:latin typeface="Calibri"/>
              </a:rPr>
              <a:t>A branded, camera-equipped mirror that runs the same web experience — fabricated at the scale your space and event needs.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507492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5074920"/>
            <a:ext cx="310896" cy="310896"/>
          </a:xfrm>
          <a:prstGeom prst="ellipse">
            <a:avLst/>
          </a:prstGeom>
          <a:solidFill>
            <a:srgbClr val="3D2314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46504" y="5074920"/>
            <a:ext cx="310896" cy="310896"/>
          </a:xfrm>
          <a:prstGeom prst="ellipse">
            <a:avLst/>
          </a:prstGeom>
          <a:solidFill>
            <a:srgbClr val="5C3A2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85416" y="5074920"/>
            <a:ext cx="310896" cy="310896"/>
          </a:xfrm>
          <a:prstGeom prst="ellipse">
            <a:avLst/>
          </a:prstGeom>
          <a:solidFill>
            <a:srgbClr val="8B5A2B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4328" y="5074920"/>
            <a:ext cx="310896" cy="310896"/>
          </a:xfrm>
          <a:prstGeom prst="ellipse">
            <a:avLst/>
          </a:prstGeom>
          <a:solidFill>
            <a:srgbClr val="7B3F00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3240" y="5074920"/>
            <a:ext cx="310896" cy="310896"/>
          </a:xfrm>
          <a:prstGeom prst="ellipse">
            <a:avLst/>
          </a:prstGeom>
          <a:solidFill>
            <a:srgbClr val="800020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5074920"/>
            <a:ext cx="310896" cy="310896"/>
          </a:xfrm>
          <a:prstGeom prst="ellipse">
            <a:avLst/>
          </a:prstGeom>
          <a:solidFill>
            <a:srgbClr val="9B111E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41064" y="5074920"/>
            <a:ext cx="310896" cy="310896"/>
          </a:xfrm>
          <a:prstGeom prst="ellipse">
            <a:avLst/>
          </a:prstGeom>
          <a:solidFill>
            <a:srgbClr val="B2BEB5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79976" y="5074920"/>
            <a:ext cx="310896" cy="310896"/>
          </a:xfrm>
          <a:prstGeom prst="ellipse">
            <a:avLst/>
          </a:prstGeom>
          <a:solidFill>
            <a:srgbClr val="F2A2B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18888" y="5074920"/>
            <a:ext cx="310896" cy="310896"/>
          </a:xfrm>
          <a:prstGeom prst="ellipse">
            <a:avLst/>
          </a:prstGeom>
          <a:solidFill>
            <a:srgbClr val="7851A9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7800" y="5074920"/>
            <a:ext cx="310896" cy="310896"/>
          </a:xfrm>
          <a:prstGeom prst="ellipse">
            <a:avLst/>
          </a:prstGeom>
          <a:solidFill>
            <a:srgbClr val="4A6B82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96712" y="5074920"/>
            <a:ext cx="310896" cy="310896"/>
          </a:xfrm>
          <a:prstGeom prst="ellipse">
            <a:avLst/>
          </a:prstGeom>
          <a:solidFill>
            <a:srgbClr val="4A2511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35624" y="5074920"/>
            <a:ext cx="310896" cy="310896"/>
          </a:xfrm>
          <a:prstGeom prst="ellipse">
            <a:avLst/>
          </a:prstGeom>
          <a:solidFill>
            <a:srgbClr val="D1B89D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74536" y="5074920"/>
            <a:ext cx="310896" cy="310896"/>
          </a:xfrm>
          <a:prstGeom prst="ellipse">
            <a:avLst/>
          </a:prstGeom>
          <a:solidFill>
            <a:srgbClr val="F3E5AB"/>
          </a:solidFill>
          <a:ln w="12700">
            <a:solidFill>
              <a:srgbClr val="2A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4A8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9C4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THE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210F"/>
                </a:solidFill>
                <a:latin typeface="Cambria"/>
              </a:rPr>
              <a:t>Three build scales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4520" y="1920240"/>
            <a:ext cx="1188720" cy="960120"/>
          </a:xfrm>
          <a:prstGeom prst="roundRect">
            <a:avLst>
              <a:gd name="adj" fmla="val 12000"/>
            </a:avLst>
          </a:prstGeom>
          <a:solidFill>
            <a:srgbClr val="14210F"/>
          </a:solidFill>
          <a:ln w="15240">
            <a:solidFill>
              <a:srgbClr val="B89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2212848"/>
            <a:ext cx="365760" cy="36576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4210F"/>
                </a:solidFill>
                <a:latin typeface="Cambria"/>
              </a:rPr>
              <a:t>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8942F"/>
                </a:solidFill>
                <a:latin typeface="Calibri"/>
              </a:rPr>
              <a:t>RETAIL / COUNTER  ·  24–32″ portrait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886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Watsons shelf, pharmacy 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3205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205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Compact branded enclosure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754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548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Wide-angle camera + mini-PC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18921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892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Plug-and-play, single power plug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42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60"/>
                </a:solidFill>
                <a:latin typeface="Calibri"/>
              </a:rPr>
              <a:t>Best for: Watsons &amp; small activations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6916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EC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59" y="1920240"/>
            <a:ext cx="1188720" cy="960120"/>
          </a:xfrm>
          <a:prstGeom prst="roundRect">
            <a:avLst>
              <a:gd name="adj" fmla="val 12000"/>
            </a:avLst>
          </a:prstGeom>
          <a:solidFill>
            <a:srgbClr val="14210F"/>
          </a:solidFill>
          <a:ln w="15240">
            <a:solidFill>
              <a:srgbClr val="B89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212848"/>
            <a:ext cx="365760" cy="36576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063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4210F"/>
                </a:solidFill>
                <a:latin typeface="Cambria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456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8942F"/>
                </a:solidFill>
                <a:latin typeface="Calibri"/>
              </a:rPr>
              <a:t>EVENTS  ·  43–55″ floor mirror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886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Mall atrium, roadshows, launches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3205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43205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Two-way glass, floor-standing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754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47548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LED accent + lightbox header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518921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7D2E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51892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81C"/>
                </a:solidFill>
                <a:latin typeface="Calibri"/>
              </a:rPr>
              <a:t>4K camera for crisp 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5742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60"/>
                </a:solidFill>
                <a:latin typeface="Calibri"/>
              </a:rPr>
              <a:t>Best for: Booths &amp; mid-size events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69164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2599" y="1920240"/>
            <a:ext cx="1188720" cy="960120"/>
          </a:xfrm>
          <a:prstGeom prst="roundRect">
            <a:avLst>
              <a:gd name="adj" fmla="val 12000"/>
            </a:avLst>
          </a:prstGeom>
          <a:solidFill>
            <a:srgbClr val="1B2C14"/>
          </a:solidFill>
          <a:ln w="15240">
            <a:solidFill>
              <a:srgbClr val="B89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84080" y="2212848"/>
            <a:ext cx="365760" cy="365760"/>
          </a:xfrm>
          <a:prstGeom prst="ellipse">
            <a:avLst/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063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LARGE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456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0C46A"/>
                </a:solidFill>
                <a:latin typeface="Calibri"/>
              </a:rPr>
              <a:t>FLAGSHIP + DISPLAY  ·  65–75″ + product 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3886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19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CDA"/>
                </a:solidFill>
                <a:latin typeface="Calibri"/>
              </a:rPr>
              <a:t>Major events &amp; flagship stores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43205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19" y="43205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CDA"/>
                </a:solidFill>
                <a:latin typeface="Calibri"/>
              </a:rPr>
              <a:t>Custom booth with product shelving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47548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19" y="47548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CDA"/>
                </a:solidFill>
                <a:latin typeface="Calibri"/>
              </a:rPr>
              <a:t>GPU PC for smoothest 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518921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19" y="51892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CDA"/>
                </a:solidFill>
                <a:latin typeface="Calibri"/>
              </a:rPr>
              <a:t>Integrated lighting &amp; backdrop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7424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B9C4A8"/>
                </a:solidFill>
                <a:latin typeface="Calibri"/>
              </a:rPr>
              <a:t>Best for: Hero activations &amp; launches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Where it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3113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10F"/>
                </a:solidFill>
                <a:latin typeface="Calibri"/>
              </a:rPr>
              <a:t>Retail — Watsons &amp; pharmacy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67004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Small mirror at the hair-colour shelf. Drives trial at the point of decision; refreshes with new SKUs via the admin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" y="338328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383280"/>
            <a:ext cx="3383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Small mirror + Basic/Standard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23113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10F"/>
                </a:solidFill>
                <a:latin typeface="Calibri"/>
              </a:rPr>
              <a:t>Roadshows &amp; mall activations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67004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Medium mirror as the centre of the booth. Before/after and shareable cards pull crowds and social reach.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338328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3383280"/>
            <a:ext cx="3383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 mirror +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970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10F"/>
                </a:solidFill>
                <a:latin typeface="Calibri"/>
              </a:rPr>
              <a:t>Flagship launches &amp; hero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636007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Large mirror with product wall and full analysis — a consultation experience with printed take-home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" y="534924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5349240"/>
            <a:ext cx="3383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Large mirror + Bespoke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77639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41970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10F"/>
                </a:solidFill>
                <a:latin typeface="Calibri"/>
              </a:rPr>
              <a:t>Web / QR — no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636007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The same experience on shoppers' own phones via a QR code or link — zero fabrication, national reach.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6248" y="534924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5349240"/>
            <a:ext cx="3383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Any software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Costing — client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31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CED8BE"/>
                </a:solidFill>
                <a:latin typeface="Calibri"/>
              </a:rPr>
              <a:t>All figures in Philippine Peso. Each line shows the solution price, a 15% Agency Service Fee, and 12% VAT. Detailed procurement costing follows in the appendix.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4A8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9C4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CLIENT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4210F"/>
                </a:solidFill>
                <a:latin typeface="Cambria"/>
              </a:rPr>
              <a:t>Investment — software packages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789917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3566"/>
                <a:gridCol w="2174088"/>
                <a:gridCol w="2576697"/>
                <a:gridCol w="1610435"/>
                <a:gridCol w="2335131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marL="82296" marR="82296" marT="18288" marB="18288" anchor="ctr">
                    <a:solidFill>
                      <a:srgbClr val="5F7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Solution price</a:t>
                      </a:r>
                    </a:p>
                  </a:txBody>
                  <a:tcPr marL="82296" marR="82296" marT="18288" marB="18288" anchor="ctr">
                    <a:solidFill>
                      <a:srgbClr val="5F7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Agency Service Fee (15%)</a:t>
                      </a:r>
                    </a:p>
                  </a:txBody>
                  <a:tcPr marL="82296" marR="82296" marT="18288" marB="18288" anchor="ctr">
                    <a:solidFill>
                      <a:srgbClr val="5F7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VAT (12%)</a:t>
                      </a:r>
                    </a:p>
                  </a:txBody>
                  <a:tcPr marL="82296" marR="82296" marT="18288" marB="18288" anchor="ctr">
                    <a:solidFill>
                      <a:srgbClr val="5F7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Total investment</a:t>
                      </a:r>
                    </a:p>
                  </a:txBody>
                  <a:tcPr marL="82296" marR="82296" marT="18288" marB="18288" anchor="ctr">
                    <a:solidFill>
                      <a:srgbClr val="5F7D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₱200,000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₱30,000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₱27,600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₱257,600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₱275,000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₱41,250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₱37,950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₱354,200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Bespoke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₱625,000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₱93,750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₱86,250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₱805,000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977639"/>
            <a:ext cx="10789920" cy="96012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0F"/>
                </a:solidFill>
                <a:latin typeface="Calibri"/>
              </a:rPr>
              <a:t>One-time build &amp; deployment per tier. </a:t>
            </a:r>
            <a:r>
              <a:rPr sz="1300" b="0" i="0">
                <a:solidFill>
                  <a:srgbClr val="22281C"/>
                </a:solidFill>
                <a:latin typeface="Calibri"/>
              </a:rPr>
              <a:t>Includes brand skinning, all-SKU shade set-up, hosting for year one, QA and admin console. Optional annual hosting &amp; maintenance: </a:t>
            </a:r>
            <a:r>
              <a:rPr sz="1300" b="1" i="0">
                <a:solidFill>
                  <a:srgbClr val="14210F"/>
                </a:solidFill>
                <a:latin typeface="Calibri"/>
              </a:rPr>
              <a:t>₱66,000/yr.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B8942F"/>
                </a:solidFill>
                <a:latin typeface="Calibri"/>
              </a:rPr>
              <a:t>Reading the numbers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260"/>
                </a:solidFill>
                <a:latin typeface="Calibri"/>
              </a:rPr>
              <a:t>Solution price is the package cost. The 15% Agency Service Fee and 12% VAT are added on top; Total investment is what the client pays.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CLIENT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4210F"/>
                </a:solidFill>
                <a:latin typeface="Cambria"/>
              </a:rPr>
              <a:t>Investment — Virtual Try-On Mirror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789916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943"/>
                <a:gridCol w="2109307"/>
                <a:gridCol w="2514943"/>
                <a:gridCol w="1460289"/>
                <a:gridCol w="219043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Mirror build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Fabrication price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Agency Service Fee (15%)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VAT (12%)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Total investment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Small — retail / counter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₱140,000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₱21,000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₱19,320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₱180,320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Medium — events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₱320,000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₱48,000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₱44,160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₱412,160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81C"/>
                          </a:solidFill>
                          <a:latin typeface="Calibri"/>
                        </a:rPr>
                        <a:t>Large — flagship + display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₱750,000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₱112,500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81C"/>
                          </a:solidFill>
                          <a:latin typeface="Calibri"/>
                        </a:rPr>
                        <a:t>₱103,500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4210F"/>
                          </a:solidFill>
                          <a:latin typeface="Calibri"/>
                        </a:rPr>
                        <a:t>₱966,000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977639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1605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4210F"/>
                </a:solidFill>
                <a:latin typeface="Calibri"/>
              </a:rPr>
              <a:t>Purchase (fabrication)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One-time build the client keeps — ideal for permanent retail installs. Includes display, camera, PC, two-way mirror, enclosure, branding, assembly &amp;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77639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41605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E0C46A"/>
                </a:solidFill>
                <a:latin typeface="Calibri"/>
              </a:rPr>
              <a:t>Event rental option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Prefer not to own? We can rent a mirror per activation at roughly 35–40% of the fabrication price (2–3 days), incl. delivery, set-up and on-site tech.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CLIENT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4210F"/>
                </a:solidFill>
                <a:latin typeface="Cambria"/>
              </a:rPr>
              <a:t>Example bundles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21408"/>
            <a:ext cx="3566160" cy="347472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Retail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4210F"/>
                </a:solidFill>
                <a:latin typeface="Calibri"/>
              </a:rPr>
              <a:t>Standard software + 1 Small mirror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1">
                <a:solidFill>
                  <a:srgbClr val="6B7260"/>
                </a:solidFill>
                <a:latin typeface="Calibri"/>
              </a:rPr>
              <a:t>Test-and-learn in one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Subtotal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947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₱415,000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05656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Agency Service Fee (15%)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0565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₱62,250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165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VAT (12%)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16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₱57,270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45736"/>
            <a:ext cx="3054096" cy="18288"/>
          </a:xfrm>
          <a:prstGeom prst="rect">
            <a:avLst/>
          </a:prstGeom>
          <a:solidFill>
            <a:srgbClr val="DD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371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81888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4210F"/>
                </a:solidFill>
                <a:latin typeface="Calibri"/>
              </a:rPr>
              <a:t>₱534,520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73736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1737360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121408"/>
            <a:ext cx="3566160" cy="347472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1810512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Multi-store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60604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4210F"/>
                </a:solidFill>
                <a:latin typeface="Calibri"/>
              </a:rPr>
              <a:t>Basic software + 5 Small mirrors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3154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1">
                <a:solidFill>
                  <a:srgbClr val="6B7260"/>
                </a:solidFill>
                <a:latin typeface="Calibri"/>
              </a:rPr>
              <a:t>Scale across a chain (volume pricing on request)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3794760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Subtotal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947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₱900,000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105656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Agency Service Fee (15%)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10565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₱135,000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44165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VAT (12%)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416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₱124,200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4745736"/>
            <a:ext cx="3054096" cy="18288"/>
          </a:xfrm>
          <a:prstGeom prst="rect">
            <a:avLst/>
          </a:prstGeom>
          <a:solidFill>
            <a:srgbClr val="DD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48371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1888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4210F"/>
                </a:solidFill>
                <a:latin typeface="Calibri"/>
              </a:rPr>
              <a:t>₱1,159,200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173736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83879" y="1737360"/>
            <a:ext cx="3566160" cy="731520"/>
          </a:xfrm>
          <a:prstGeom prst="roundRect">
            <a:avLst>
              <a:gd name="adj" fmla="val 6000"/>
            </a:avLst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2121408"/>
            <a:ext cx="3566160" cy="347472"/>
          </a:xfrm>
          <a:prstGeom prst="rect">
            <a:avLst/>
          </a:prstGeom>
          <a:solidFill>
            <a:srgbClr val="142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1810512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Flagship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260604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4210F"/>
                </a:solidFill>
                <a:latin typeface="Calibri"/>
              </a:rPr>
              <a:t>Bespoke software + 1 Large mirror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1546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1">
                <a:solidFill>
                  <a:srgbClr val="6B7260"/>
                </a:solidFill>
                <a:latin typeface="Calibri"/>
              </a:rPr>
              <a:t>Hero activation with full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794760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Subtotal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37947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₱1,375,000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105656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Agency Service Fee (15%)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10565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₱206,250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4165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60"/>
                </a:solidFill>
                <a:latin typeface="Calibri"/>
              </a:rPr>
              <a:t>VAT (12%)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416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22281C"/>
                </a:solidFill>
                <a:latin typeface="Calibri"/>
              </a:rPr>
              <a:t>₱189,750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9911" y="4745736"/>
            <a:ext cx="3054096" cy="18288"/>
          </a:xfrm>
          <a:prstGeom prst="rect">
            <a:avLst/>
          </a:prstGeom>
          <a:solidFill>
            <a:srgbClr val="DD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48371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81888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4210F"/>
                </a:solidFill>
                <a:latin typeface="Calibri"/>
              </a:rPr>
              <a:t>₱1,771,000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60"/>
                </a:solidFill>
                <a:latin typeface="Calibri"/>
              </a:rPr>
              <a:t>Indicative bundles for illustration. Volume, multi-unit and retainer pricing available on request.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FOR PROCUREMENT —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4210F"/>
                </a:solidFill>
                <a:latin typeface="Cambria"/>
              </a:rPr>
              <a:t>Detailed costing — software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7360918" cy="36932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017"/>
                <a:gridCol w="1249967"/>
                <a:gridCol w="1249967"/>
                <a:gridCol w="124996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 component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Bespoke</a:t>
                      </a:r>
                    </a:p>
                  </a:txBody>
                  <a:tcPr marL="82296" marR="82296" marT="18288" marB="18288" anchor="ctr">
                    <a:solidFill>
                      <a:srgbClr val="14210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UI/UX &amp; brand skinning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AR filter + all-SKU shade set-up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Photo / video capture module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Admin console &amp; config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Hosting (year 1) + CDN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Split / grid / brighten modules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Analysis engine + recommendations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70,000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Statement / vibe / rate-picks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Shareable cards + print pipeline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Usage analytics dashboard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QA + device testing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Project management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Bespoke customization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1C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75320" y="1371600"/>
            <a:ext cx="3200400" cy="4617720"/>
          </a:xfrm>
          <a:prstGeom prst="roundRect">
            <a:avLst>
              <a:gd name="adj" fmla="val 5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5087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8942F"/>
                </a:solidFill>
                <a:latin typeface="Calibri"/>
              </a:rPr>
              <a:t>MARGIN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3113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Production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0" y="223113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₱120,000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8259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Package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48259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₱200,000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73405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73405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₱80,000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85515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6956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80459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Production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3680459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₱165,000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93192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Package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93192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₱275,000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18338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418338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₱110,000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348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188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Bespoke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12978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Production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512978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₱375,000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8124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Package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538124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₱625,000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3270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563270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₱250,000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88416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533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60"/>
                </a:solidFill>
                <a:latin typeface="Calibri"/>
              </a:rPr>
              <a:t>All figures ₱, net of Agency Service Fee and VAT. Gross profit target 30–50%; modelled at 40%. Excludes annual hosting/maintenance.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FOR PROCUREMENT —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 i="0">
                <a:solidFill>
                  <a:srgbClr val="14210F"/>
                </a:solidFill>
                <a:latin typeface="Cambria"/>
              </a:rPr>
              <a:t>Detailed costing — Virtual Try-On Mirror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7360918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017"/>
                <a:gridCol w="1249967"/>
                <a:gridCol w="1249967"/>
                <a:gridCol w="124996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20A"/>
                          </a:solidFill>
                          <a:latin typeface="Calibri"/>
                        </a:rPr>
                        <a:t>Cost component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220A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22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220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2296" marR="82296" marT="18288" marB="18288" anchor="ctr">
                    <a:solidFill>
                      <a:srgbClr val="B8942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Display (24–75″ as spec)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35,000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75,000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Camera(s)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Compute (mini-PC / GPU PC)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85,000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Two-way mirror (acrylic / glass)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22,000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Enclosure / frame / booth fab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38,000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140,000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Lighting (LED / lightbox)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— incl.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Branding, print &amp; wrap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Wiring, mounts &amp; power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— incl.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— incl.</a:t>
                      </a:r>
                    </a:p>
                  </a:txBody>
                  <a:tcPr marL="82296" marR="82296" marT="18288" marB="18288" anchor="ctr">
                    <a:solidFill>
                      <a:srgbClr val="F2F5E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Assembly, config, QA &amp; logistics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18,000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81C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75320" y="1371600"/>
            <a:ext cx="3200400" cy="4206240"/>
          </a:xfrm>
          <a:prstGeom prst="roundRect">
            <a:avLst>
              <a:gd name="adj" fmla="val 5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5087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8942F"/>
                </a:solidFill>
                <a:latin typeface="Calibri"/>
              </a:rPr>
              <a:t>MARGIN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965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7685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Fabrication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0" y="227685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₱83,000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528315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Build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528315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₱140,000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779775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779775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₱57,000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31235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41528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26179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Fabrication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3726179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₱193,000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977639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Build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977639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₱320,000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2910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422910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₱127,000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8056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646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10F"/>
                </a:solidFill>
                <a:latin typeface="Calibri"/>
              </a:rPr>
              <a:t>Large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17550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Fabrication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517550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₱450,000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42696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Build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542696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22281C"/>
                </a:solidFill>
                <a:latin typeface="Calibri"/>
              </a:rPr>
              <a:t>₱750,000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7842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60"/>
                </a:solidFill>
                <a:latin typeface="Calibri"/>
              </a:rPr>
              <a:t>Gross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567842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2281C"/>
                </a:solidFill>
                <a:latin typeface="Calibri"/>
              </a:rPr>
              <a:t>₱300,000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92988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F7D2E"/>
                </a:solidFill>
                <a:latin typeface="Calibri"/>
              </a:rPr>
              <a:t>GP margin  ·  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6B7260"/>
                </a:solidFill>
                <a:latin typeface="Calibri"/>
              </a:rPr>
              <a:t>All figures ₱, net of Agency Service Fee and VAT. Metro Manila pricing; component costs vary with brand/spec and FX. GP modelled at 40%.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THE FINE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Assumptions &amp; commercial terms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121408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Pricing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All amounts in Philippine Peso (₱). Agency Service Fee 15% and VAT 12% applied as shown.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145536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Margin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Gross profit modelled at 40% (target range 30–50%), exclusive of the Agency Service Fee.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169663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0565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Validity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Quotation valid for 30 days from issue; subject to component availability and FX at PO.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193792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978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Payment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50% down-payment to commence; balance on delivery / go-live. Milestone terms for multi-unit.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2121408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Timeline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Basic 4–5 wks · Standard 5–7 wks · Bespoke 8–10 wks from PO &amp; assets. Mirror fabrication runs in parallel.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145536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Inclusions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Design, build, all-SKU set-up, QA, deployment, admin console, and 1-year hosting (software).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169663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10565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Exclusions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On-site internet, venue/space, event manpower/talents, permits, and freight outside Metro Manila.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5193792"/>
            <a:ext cx="109728" cy="109728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12978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10F"/>
                </a:solidFill>
                <a:latin typeface="Calibri"/>
              </a:rPr>
              <a:t>Data &amp; privacy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22281C"/>
                </a:solidFill>
                <a:latin typeface="Calibri"/>
              </a:rPr>
              <a:t>On-device processing; no camera upload. Analytics are aggregate &amp; anonymous by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942F"/>
                </a:solidFill>
                <a:latin typeface="Calibri"/>
              </a:rPr>
              <a:t>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4210F"/>
                </a:solidFill>
                <a:latin typeface="Cambria"/>
              </a:rPr>
              <a:t>From go to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880360"/>
            <a:ext cx="10149840" cy="27432"/>
          </a:xfrm>
          <a:prstGeom prst="rect">
            <a:avLst/>
          </a:prstGeom>
          <a:solidFill>
            <a:srgbClr val="DD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2606040"/>
            <a:ext cx="548640" cy="548640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06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8942F"/>
                </a:solidFill>
                <a:latin typeface="Calibri"/>
              </a:rPr>
              <a:t>Week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10F"/>
                </a:solidFill>
                <a:latin typeface="Calibri"/>
              </a:rPr>
              <a:t>Kick-off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2281C"/>
                </a:solidFill>
                <a:latin typeface="Calibri"/>
              </a:rPr>
              <a:t>Brand assets, SKU list &amp; shade approvals; scope lock.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606040"/>
            <a:ext cx="548640" cy="548640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06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8942F"/>
                </a:solidFill>
                <a:latin typeface="Calibri"/>
              </a:rPr>
              <a:t>Wk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10F"/>
                </a:solidFill>
                <a:latin typeface="Calibri"/>
              </a:rPr>
              <a:t>Design &amp; skin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977639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2281C"/>
                </a:solidFill>
                <a:latin typeface="Calibri"/>
              </a:rPr>
              <a:t>UI skinning, shade set-up, mirror spec &amp; procurement.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5532120" y="2606040"/>
            <a:ext cx="548640" cy="548640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606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8942F"/>
                </a:solidFill>
                <a:latin typeface="Calibri"/>
              </a:rPr>
              <a:t>Wk 3–6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10F"/>
                </a:solidFill>
                <a:latin typeface="Calibri"/>
              </a:rPr>
              <a:t>Build &amp; fabricate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39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2281C"/>
                </a:solidFill>
                <a:latin typeface="Calibri"/>
              </a:rPr>
              <a:t>Feature build + QA; mirror fabrication and wiring.</a:t>
            </a:r>
          </a:p>
        </p:txBody>
      </p:sp>
      <p:sp>
        <p:nvSpPr>
          <p:cNvPr id="20" name="Oval 19"/>
          <p:cNvSpPr/>
          <p:nvPr/>
        </p:nvSpPr>
        <p:spPr>
          <a:xfrm>
            <a:off x="7635240" y="2606040"/>
            <a:ext cx="548640" cy="548640"/>
          </a:xfrm>
          <a:prstGeom prst="ellipse">
            <a:avLst/>
          </a:prstGeom>
          <a:solidFill>
            <a:srgbClr val="5F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606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8942F"/>
                </a:solidFill>
                <a:latin typeface="Calibri"/>
              </a:rPr>
              <a:t>Wk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10F"/>
                </a:solidFill>
                <a:latin typeface="Calibri"/>
              </a:rPr>
              <a:t>Test &amp; 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77639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2281C"/>
                </a:solidFill>
                <a:latin typeface="Calibri"/>
              </a:rPr>
              <a:t>On-device UAT, on-site install, staff training.</a:t>
            </a:r>
          </a:p>
        </p:txBody>
      </p:sp>
      <p:sp>
        <p:nvSpPr>
          <p:cNvPr id="25" name="Oval 24"/>
          <p:cNvSpPr/>
          <p:nvPr/>
        </p:nvSpPr>
        <p:spPr>
          <a:xfrm>
            <a:off x="9738360" y="2606040"/>
            <a:ext cx="548640" cy="548640"/>
          </a:xfrm>
          <a:prstGeom prst="ellipse">
            <a:avLst/>
          </a:prstGeom>
          <a:solidFill>
            <a:srgbClr val="B89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606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8942F"/>
                </a:solidFill>
                <a:latin typeface="Calibri"/>
              </a:rPr>
              <a:t>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6118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10F"/>
                </a:solidFill>
                <a:latin typeface="Calibri"/>
              </a:rPr>
              <a:t>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77639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2281C"/>
                </a:solidFill>
                <a:latin typeface="Calibri"/>
              </a:rPr>
              <a:t>Deploy, monitor, and iterate from usage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5780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2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0F"/>
                </a:solidFill>
                <a:latin typeface="Calibri"/>
              </a:rPr>
              <a:t>Fastest path to a pilot: </a:t>
            </a:r>
            <a:r>
              <a:rPr sz="1300" b="0" i="0">
                <a:solidFill>
                  <a:srgbClr val="22281C"/>
                </a:solidFill>
                <a:latin typeface="Calibri"/>
              </a:rPr>
              <a:t>a web-only Basic tier can go live in ~4 weeks via QR — add mirrors and Bespoke features as budget unlocks.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60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017520"/>
            <a:ext cx="5669280" cy="5669280"/>
          </a:xfrm>
          <a:prstGeom prst="ellipse">
            <a:avLst/>
          </a:prstGeom>
          <a:noFill/>
          <a:ln w="13970">
            <a:solidFill>
              <a:srgbClr val="5F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C46A"/>
                </a:solidFill>
                <a:latin typeface="Calibri"/>
              </a:rPr>
              <a:t>LET'S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Start small, scale to a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nationwide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Working prototype already built — fast to brand and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4164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0416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One platform: web, in-store mirror, and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1713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1713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Tiered to your budget — upgrade features anytime via the admin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92623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C46A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9262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First-party insight on the shades your shoppers love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715000"/>
            <a:ext cx="10561320" cy="777240"/>
          </a:xfrm>
          <a:prstGeom prst="roundRect">
            <a:avLst>
              <a:gd name="adj" fmla="val 10000"/>
            </a:avLst>
          </a:prstGeom>
          <a:solidFill>
            <a:srgbClr val="1B2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0C46A"/>
                </a:solidFill>
                <a:latin typeface="Calibri"/>
              </a:rPr>
              <a:t>Next step: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pick a pilot tier + mirror scale, and we'll issue a firm quotation and rollout plan. 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Mineski Global (Philippines)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4A8"/>
                </a:solidFill>
                <a:latin typeface="Calibri"/>
              </a:rPr>
              <a:t>Mineski Global (Philippines)  ×  iColor Plus — Great Lengths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9C4A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